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85" r:id="rId2"/>
    <p:sldId id="258" r:id="rId3"/>
    <p:sldId id="289" r:id="rId4"/>
    <p:sldId id="291" r:id="rId5"/>
    <p:sldId id="292" r:id="rId6"/>
    <p:sldId id="293" r:id="rId7"/>
    <p:sldId id="294" r:id="rId8"/>
    <p:sldId id="290" r:id="rId9"/>
    <p:sldId id="295" r:id="rId10"/>
    <p:sldId id="297" r:id="rId11"/>
    <p:sldId id="298" r:id="rId12"/>
    <p:sldId id="296" r:id="rId13"/>
    <p:sldId id="299" r:id="rId14"/>
    <p:sldId id="300" r:id="rId15"/>
    <p:sldId id="301" r:id="rId16"/>
    <p:sldId id="302" r:id="rId17"/>
    <p:sldId id="303" r:id="rId18"/>
    <p:sldId id="305" r:id="rId19"/>
    <p:sldId id="304" r:id="rId20"/>
    <p:sldId id="306" r:id="rId21"/>
    <p:sldId id="308" r:id="rId22"/>
    <p:sldId id="307" r:id="rId23"/>
    <p:sldId id="311" r:id="rId24"/>
    <p:sldId id="312" r:id="rId25"/>
    <p:sldId id="309" r:id="rId26"/>
    <p:sldId id="310" r:id="rId27"/>
    <p:sldId id="313" r:id="rId28"/>
    <p:sldId id="31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FDE64B-5985-4EB2-AC10-7B0ABB1B6129}"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7E0CD-4AC2-4595-8527-FE37C5BE96C4}" type="slidenum">
              <a:rPr lang="en-IN" smtClean="0"/>
              <a:t>‹#›</a:t>
            </a:fld>
            <a:endParaRPr lang="en-IN"/>
          </a:p>
        </p:txBody>
      </p:sp>
    </p:spTree>
    <p:extLst>
      <p:ext uri="{BB962C8B-B14F-4D97-AF65-F5344CB8AC3E}">
        <p14:creationId xmlns:p14="http://schemas.microsoft.com/office/powerpoint/2010/main" val="4000385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C39156-565A-4AE6-9656-7438BAC5C424}" type="slidenum">
              <a:rPr lang="en-IN" smtClean="0"/>
              <a:t>2</a:t>
            </a:fld>
            <a:endParaRPr lang="en-IN"/>
          </a:p>
        </p:txBody>
      </p:sp>
    </p:spTree>
    <p:extLst>
      <p:ext uri="{BB962C8B-B14F-4D97-AF65-F5344CB8AC3E}">
        <p14:creationId xmlns:p14="http://schemas.microsoft.com/office/powerpoint/2010/main" val="2838782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C39156-565A-4AE6-9656-7438BAC5C424}" type="slidenum">
              <a:rPr lang="en-IN" smtClean="0"/>
              <a:t>3</a:t>
            </a:fld>
            <a:endParaRPr lang="en-IN"/>
          </a:p>
        </p:txBody>
      </p:sp>
    </p:spTree>
    <p:extLst>
      <p:ext uri="{BB962C8B-B14F-4D97-AF65-F5344CB8AC3E}">
        <p14:creationId xmlns:p14="http://schemas.microsoft.com/office/powerpoint/2010/main" val="2160801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4CBF7-CA45-9D1D-3054-4BC64724A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FEDCD-3FF2-46FB-8E3B-10EE100EB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3695D-74C9-4107-71DB-B789DC8013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92B60BC-7FCF-604C-4657-9BF1997D7476}"/>
              </a:ext>
            </a:extLst>
          </p:cNvPr>
          <p:cNvSpPr>
            <a:spLocks noGrp="1"/>
          </p:cNvSpPr>
          <p:nvPr>
            <p:ph type="sldNum" sz="quarter" idx="5"/>
          </p:nvPr>
        </p:nvSpPr>
        <p:spPr/>
        <p:txBody>
          <a:bodyPr/>
          <a:lstStyle/>
          <a:p>
            <a:fld id="{45C39156-565A-4AE6-9656-7438BAC5C424}" type="slidenum">
              <a:rPr lang="en-IN" smtClean="0"/>
              <a:t>4</a:t>
            </a:fld>
            <a:endParaRPr lang="en-IN"/>
          </a:p>
        </p:txBody>
      </p:sp>
    </p:spTree>
    <p:extLst>
      <p:ext uri="{BB962C8B-B14F-4D97-AF65-F5344CB8AC3E}">
        <p14:creationId xmlns:p14="http://schemas.microsoft.com/office/powerpoint/2010/main" val="236161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7CEA0-39F8-4CDE-3E56-182266F25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ABA04C-4833-FE0D-4279-B839CD058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A3607-C49E-CED9-3A6D-2A6132D5EB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03F90B-C5AB-A5C6-F3C6-157873648812}"/>
              </a:ext>
            </a:extLst>
          </p:cNvPr>
          <p:cNvSpPr>
            <a:spLocks noGrp="1"/>
          </p:cNvSpPr>
          <p:nvPr>
            <p:ph type="sldNum" sz="quarter" idx="5"/>
          </p:nvPr>
        </p:nvSpPr>
        <p:spPr/>
        <p:txBody>
          <a:bodyPr/>
          <a:lstStyle/>
          <a:p>
            <a:fld id="{45C39156-565A-4AE6-9656-7438BAC5C424}" type="slidenum">
              <a:rPr lang="en-IN" smtClean="0"/>
              <a:t>5</a:t>
            </a:fld>
            <a:endParaRPr lang="en-IN"/>
          </a:p>
        </p:txBody>
      </p:sp>
    </p:spTree>
    <p:extLst>
      <p:ext uri="{BB962C8B-B14F-4D97-AF65-F5344CB8AC3E}">
        <p14:creationId xmlns:p14="http://schemas.microsoft.com/office/powerpoint/2010/main" val="1520341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543FC-7B57-42B7-5091-A8B57FAD3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C5094-2A10-DC32-D1C7-45A220439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1E953-2678-644E-EE1E-FD46A1DAABF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6EE5A34-11AA-DDD5-F7FD-5BFD50E0089E}"/>
              </a:ext>
            </a:extLst>
          </p:cNvPr>
          <p:cNvSpPr>
            <a:spLocks noGrp="1"/>
          </p:cNvSpPr>
          <p:nvPr>
            <p:ph type="sldNum" sz="quarter" idx="5"/>
          </p:nvPr>
        </p:nvSpPr>
        <p:spPr/>
        <p:txBody>
          <a:bodyPr/>
          <a:lstStyle/>
          <a:p>
            <a:fld id="{45C39156-565A-4AE6-9656-7438BAC5C424}" type="slidenum">
              <a:rPr lang="en-IN" smtClean="0"/>
              <a:t>6</a:t>
            </a:fld>
            <a:endParaRPr lang="en-IN"/>
          </a:p>
        </p:txBody>
      </p:sp>
    </p:spTree>
    <p:extLst>
      <p:ext uri="{BB962C8B-B14F-4D97-AF65-F5344CB8AC3E}">
        <p14:creationId xmlns:p14="http://schemas.microsoft.com/office/powerpoint/2010/main" val="3089420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91391-F44F-78AE-42B5-7A6228E10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B4FB8-64AE-5105-2B56-F9DF576C9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F36D7-16A6-CB3B-AB47-858CBF0921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761881-CAD3-6004-E16A-9BD79DC9203E}"/>
              </a:ext>
            </a:extLst>
          </p:cNvPr>
          <p:cNvSpPr>
            <a:spLocks noGrp="1"/>
          </p:cNvSpPr>
          <p:nvPr>
            <p:ph type="sldNum" sz="quarter" idx="5"/>
          </p:nvPr>
        </p:nvSpPr>
        <p:spPr/>
        <p:txBody>
          <a:bodyPr/>
          <a:lstStyle/>
          <a:p>
            <a:fld id="{45C39156-565A-4AE6-9656-7438BAC5C424}" type="slidenum">
              <a:rPr lang="en-IN" smtClean="0"/>
              <a:t>7</a:t>
            </a:fld>
            <a:endParaRPr lang="en-IN"/>
          </a:p>
        </p:txBody>
      </p:sp>
    </p:spTree>
    <p:extLst>
      <p:ext uri="{BB962C8B-B14F-4D97-AF65-F5344CB8AC3E}">
        <p14:creationId xmlns:p14="http://schemas.microsoft.com/office/powerpoint/2010/main" val="2384770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ABEE6-79DB-CBFC-3486-9711E3BE6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DEB5E-D0DF-ABD7-9C86-BCC9D4357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9AA6E0-C02A-C679-A09F-B42CB255545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3E108D1-60E3-DB01-30B9-489046E51D63}"/>
              </a:ext>
            </a:extLst>
          </p:cNvPr>
          <p:cNvSpPr>
            <a:spLocks noGrp="1"/>
          </p:cNvSpPr>
          <p:nvPr>
            <p:ph type="sldNum" sz="quarter" idx="5"/>
          </p:nvPr>
        </p:nvSpPr>
        <p:spPr/>
        <p:txBody>
          <a:bodyPr/>
          <a:lstStyle/>
          <a:p>
            <a:fld id="{45C39156-565A-4AE6-9656-7438BAC5C424}" type="slidenum">
              <a:rPr lang="en-IN" smtClean="0"/>
              <a:t>9</a:t>
            </a:fld>
            <a:endParaRPr lang="en-IN"/>
          </a:p>
        </p:txBody>
      </p:sp>
    </p:spTree>
    <p:extLst>
      <p:ext uri="{BB962C8B-B14F-4D97-AF65-F5344CB8AC3E}">
        <p14:creationId xmlns:p14="http://schemas.microsoft.com/office/powerpoint/2010/main" val="2305708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EEDA5-2B8C-EF15-32E8-680324106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83988-E3B9-945E-CC48-D93F40D89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C58EA-D186-2D0B-22F3-B559B61B8E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7D5009-6E45-49F3-13E8-909EE8037C75}"/>
              </a:ext>
            </a:extLst>
          </p:cNvPr>
          <p:cNvSpPr>
            <a:spLocks noGrp="1"/>
          </p:cNvSpPr>
          <p:nvPr>
            <p:ph type="sldNum" sz="quarter" idx="5"/>
          </p:nvPr>
        </p:nvSpPr>
        <p:spPr/>
        <p:txBody>
          <a:bodyPr/>
          <a:lstStyle/>
          <a:p>
            <a:fld id="{45C39156-565A-4AE6-9656-7438BAC5C424}" type="slidenum">
              <a:rPr lang="en-IN" smtClean="0"/>
              <a:t>10</a:t>
            </a:fld>
            <a:endParaRPr lang="en-IN"/>
          </a:p>
        </p:txBody>
      </p:sp>
    </p:spTree>
    <p:extLst>
      <p:ext uri="{BB962C8B-B14F-4D97-AF65-F5344CB8AC3E}">
        <p14:creationId xmlns:p14="http://schemas.microsoft.com/office/powerpoint/2010/main" val="880660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568F-375F-F431-F1D1-0B1541287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032C4-DEDF-2E5E-C028-2BBAE549E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3D5F7A-6D0B-B860-359B-6736D403FC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BBE272-D9FB-2C03-104C-30A63D2330E5}"/>
              </a:ext>
            </a:extLst>
          </p:cNvPr>
          <p:cNvSpPr>
            <a:spLocks noGrp="1"/>
          </p:cNvSpPr>
          <p:nvPr>
            <p:ph type="sldNum" sz="quarter" idx="5"/>
          </p:nvPr>
        </p:nvSpPr>
        <p:spPr/>
        <p:txBody>
          <a:bodyPr/>
          <a:lstStyle/>
          <a:p>
            <a:fld id="{45C39156-565A-4AE6-9656-7438BAC5C424}" type="slidenum">
              <a:rPr lang="en-IN" smtClean="0"/>
              <a:t>11</a:t>
            </a:fld>
            <a:endParaRPr lang="en-IN"/>
          </a:p>
        </p:txBody>
      </p:sp>
    </p:spTree>
    <p:extLst>
      <p:ext uri="{BB962C8B-B14F-4D97-AF65-F5344CB8AC3E}">
        <p14:creationId xmlns:p14="http://schemas.microsoft.com/office/powerpoint/2010/main" val="741816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4439B-0C06-9C9D-7F1C-5EA44D6F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69ACE-509F-1788-96B7-BD66EEFA8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096D0-B6EF-D044-5862-BD55E2E2FA7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8B54FF-2195-B7D7-601A-40155A0A3F3F}"/>
              </a:ext>
            </a:extLst>
          </p:cNvPr>
          <p:cNvSpPr>
            <a:spLocks noGrp="1"/>
          </p:cNvSpPr>
          <p:nvPr>
            <p:ph type="sldNum" sz="quarter" idx="5"/>
          </p:nvPr>
        </p:nvSpPr>
        <p:spPr/>
        <p:txBody>
          <a:bodyPr/>
          <a:lstStyle/>
          <a:p>
            <a:fld id="{45C39156-565A-4AE6-9656-7438BAC5C424}" type="slidenum">
              <a:rPr lang="en-IN" smtClean="0"/>
              <a:t>21</a:t>
            </a:fld>
            <a:endParaRPr lang="en-IN"/>
          </a:p>
        </p:txBody>
      </p:sp>
    </p:spTree>
    <p:extLst>
      <p:ext uri="{BB962C8B-B14F-4D97-AF65-F5344CB8AC3E}">
        <p14:creationId xmlns:p14="http://schemas.microsoft.com/office/powerpoint/2010/main" val="3895979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2379-FD11-0867-E4CC-AD4102F95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651B2-CA89-0FA2-B4BB-2686A8B9F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58586-C035-DB6B-BE22-B6D6A07D04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A259CB-9EF6-C23B-6B9A-8A2BA3382C58}"/>
              </a:ext>
            </a:extLst>
          </p:cNvPr>
          <p:cNvSpPr>
            <a:spLocks noGrp="1"/>
          </p:cNvSpPr>
          <p:nvPr>
            <p:ph type="sldNum" sz="quarter" idx="5"/>
          </p:nvPr>
        </p:nvSpPr>
        <p:spPr/>
        <p:txBody>
          <a:bodyPr/>
          <a:lstStyle/>
          <a:p>
            <a:fld id="{45C39156-565A-4AE6-9656-7438BAC5C424}" type="slidenum">
              <a:rPr lang="en-IN" smtClean="0"/>
              <a:t>23</a:t>
            </a:fld>
            <a:endParaRPr lang="en-IN"/>
          </a:p>
        </p:txBody>
      </p:sp>
    </p:spTree>
    <p:extLst>
      <p:ext uri="{BB962C8B-B14F-4D97-AF65-F5344CB8AC3E}">
        <p14:creationId xmlns:p14="http://schemas.microsoft.com/office/powerpoint/2010/main" val="2610013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5FD14-9935-B77B-59FA-3B3E91958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E2C4A-32E2-4C6D-041B-6E6932BDB5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C20BC-40EF-3617-3A0F-7C80411FF0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B4EE21E-110A-4210-C6EB-0F54ACAE9960}"/>
              </a:ext>
            </a:extLst>
          </p:cNvPr>
          <p:cNvSpPr>
            <a:spLocks noGrp="1"/>
          </p:cNvSpPr>
          <p:nvPr>
            <p:ph type="sldNum" sz="quarter" idx="5"/>
          </p:nvPr>
        </p:nvSpPr>
        <p:spPr/>
        <p:txBody>
          <a:bodyPr/>
          <a:lstStyle/>
          <a:p>
            <a:fld id="{45C39156-565A-4AE6-9656-7438BAC5C424}" type="slidenum">
              <a:rPr lang="en-IN" smtClean="0"/>
              <a:t>24</a:t>
            </a:fld>
            <a:endParaRPr lang="en-IN"/>
          </a:p>
        </p:txBody>
      </p:sp>
    </p:spTree>
    <p:extLst>
      <p:ext uri="{BB962C8B-B14F-4D97-AF65-F5344CB8AC3E}">
        <p14:creationId xmlns:p14="http://schemas.microsoft.com/office/powerpoint/2010/main" val="3594117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52393-B0E8-E22D-0ECC-48E2BA3E7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B1E7F-7852-49A7-EA63-39CE4061E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585D7-CF22-1ED3-EC14-741E5AB32C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A7D9D5-8F46-1753-B736-E22FFA94CF58}"/>
              </a:ext>
            </a:extLst>
          </p:cNvPr>
          <p:cNvSpPr>
            <a:spLocks noGrp="1"/>
          </p:cNvSpPr>
          <p:nvPr>
            <p:ph type="sldNum" sz="quarter" idx="5"/>
          </p:nvPr>
        </p:nvSpPr>
        <p:spPr/>
        <p:txBody>
          <a:bodyPr/>
          <a:lstStyle/>
          <a:p>
            <a:fld id="{45C39156-565A-4AE6-9656-7438BAC5C424}" type="slidenum">
              <a:rPr lang="en-IN" smtClean="0"/>
              <a:t>27</a:t>
            </a:fld>
            <a:endParaRPr lang="en-IN"/>
          </a:p>
        </p:txBody>
      </p:sp>
    </p:spTree>
    <p:extLst>
      <p:ext uri="{BB962C8B-B14F-4D97-AF65-F5344CB8AC3E}">
        <p14:creationId xmlns:p14="http://schemas.microsoft.com/office/powerpoint/2010/main" val="2533062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B452E-49BC-55F6-9056-43AD276B8C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6F0712-3629-5E74-C46B-5A35B51915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4E9646E-F856-58BF-8998-F87D8237623F}"/>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5" name="Footer Placeholder 4">
            <a:extLst>
              <a:ext uri="{FF2B5EF4-FFF2-40B4-BE49-F238E27FC236}">
                <a16:creationId xmlns:a16="http://schemas.microsoft.com/office/drawing/2014/main" id="{7D33B0AF-C32A-5F87-8C78-136F3DF2DB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0826E6-342A-6B02-8F0E-385D49893F58}"/>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3455680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F829E-0E3D-C509-4F04-C4867DDA71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AAD24B-040B-7934-C3E2-D0BB8C713D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2BCDD3-23F5-973F-437F-41D36DC699FA}"/>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5" name="Footer Placeholder 4">
            <a:extLst>
              <a:ext uri="{FF2B5EF4-FFF2-40B4-BE49-F238E27FC236}">
                <a16:creationId xmlns:a16="http://schemas.microsoft.com/office/drawing/2014/main" id="{D217E4C5-6F71-5FB2-4B80-347E260576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54F776-993E-D04A-9B24-37DFB2286823}"/>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3088501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794D8-A548-9F7F-29D9-BABAB1591F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B705791-1E27-264C-8BE3-67D83CFD15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F630CD-361B-2582-F4F9-39442A8523F0}"/>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5" name="Footer Placeholder 4">
            <a:extLst>
              <a:ext uri="{FF2B5EF4-FFF2-40B4-BE49-F238E27FC236}">
                <a16:creationId xmlns:a16="http://schemas.microsoft.com/office/drawing/2014/main" id="{AD8A5D69-5701-E19C-7B9B-854451E151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C01DDE-0DEF-5B1C-2978-AE23223B0E92}"/>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460261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EEA1-D0DE-1950-24AC-91B124DD13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9395EE-60A4-334B-7151-E2A218143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A9CFA1-218C-3582-6C33-321B889EA7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302FD10-EE6D-1633-67D5-9D1DFD2A77D0}"/>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6" name="Footer Placeholder 5">
            <a:extLst>
              <a:ext uri="{FF2B5EF4-FFF2-40B4-BE49-F238E27FC236}">
                <a16:creationId xmlns:a16="http://schemas.microsoft.com/office/drawing/2014/main" id="{43E437F2-D1B5-FC4E-BB43-F8F3125FD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D8CF0E-2401-B109-4178-8F52DBEADD25}"/>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1597292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92C02-AF77-990E-B814-C005DDD50F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DEE87F-CEAD-99B8-C19E-4CA32BA7B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DBC0CB-54EF-1CC0-6C62-61BE02B414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3223E7-8FE3-71DD-6914-320B2ED79C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DCE510-AE81-D006-D79A-F070C237CC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59442D-0066-6A57-F4AB-A2DB328F0F15}"/>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8" name="Footer Placeholder 7">
            <a:extLst>
              <a:ext uri="{FF2B5EF4-FFF2-40B4-BE49-F238E27FC236}">
                <a16:creationId xmlns:a16="http://schemas.microsoft.com/office/drawing/2014/main" id="{5F577FCA-5B9A-3002-1A1C-A119C098235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A62A21-C251-6566-52BD-F249982FF4FB}"/>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447546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6FC7-C437-4C29-0C45-9989AC4ACAD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E2288B-075A-EFAD-304D-A0762F625CE4}"/>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4" name="Footer Placeholder 3">
            <a:extLst>
              <a:ext uri="{FF2B5EF4-FFF2-40B4-BE49-F238E27FC236}">
                <a16:creationId xmlns:a16="http://schemas.microsoft.com/office/drawing/2014/main" id="{E0F894F3-ABAB-2C31-E81A-90872C5AE6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F8B1FF-D8B6-9428-C1C6-35356CA1E53C}"/>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204127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1FD34C-9BCD-C26F-7454-D5178EDEFBFB}"/>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3" name="Footer Placeholder 2">
            <a:extLst>
              <a:ext uri="{FF2B5EF4-FFF2-40B4-BE49-F238E27FC236}">
                <a16:creationId xmlns:a16="http://schemas.microsoft.com/office/drawing/2014/main" id="{7C7B2993-1DA9-D651-9844-17F92C9C21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733391-2AA0-BA39-10E6-9533303059AE}"/>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3092252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16F42-DD82-1B6C-1982-14639D5AE3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AE195F-4696-598D-F5E3-CF9ABC3749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F45E534-215D-BB9F-8242-DA748C9840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D7EF3-B4E1-71CF-5A61-0F2A9919B02E}"/>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6" name="Footer Placeholder 5">
            <a:extLst>
              <a:ext uri="{FF2B5EF4-FFF2-40B4-BE49-F238E27FC236}">
                <a16:creationId xmlns:a16="http://schemas.microsoft.com/office/drawing/2014/main" id="{833C7752-55A6-400E-6665-4F7F9E45DD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9F7E6B-F7FC-AF7A-A332-E60BFCD80FC9}"/>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1949150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E75E-CEE7-74E1-EA1C-3FAB8E778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413C2E-B9C6-5DCC-1EDF-F800ADA562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E799F5-2702-F199-8F21-570DCF910C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D39064-0DAD-B382-459F-E0B8FC72919B}"/>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6" name="Footer Placeholder 5">
            <a:extLst>
              <a:ext uri="{FF2B5EF4-FFF2-40B4-BE49-F238E27FC236}">
                <a16:creationId xmlns:a16="http://schemas.microsoft.com/office/drawing/2014/main" id="{189DE2A9-ABEF-A5CF-3C0B-B55EAA879B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17DD49-75B4-7954-011C-CD5ABC5CF700}"/>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874734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5801-5F47-AC95-CDAE-05F0C0DE16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95DC7E-D426-E544-85DF-FEDB82038C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1D349D-0EEB-C8F5-77F7-650AD04C7610}"/>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5" name="Footer Placeholder 4">
            <a:extLst>
              <a:ext uri="{FF2B5EF4-FFF2-40B4-BE49-F238E27FC236}">
                <a16:creationId xmlns:a16="http://schemas.microsoft.com/office/drawing/2014/main" id="{49AFCCBC-DEBC-DC52-390A-6DBAC10F94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358A87-6BC3-C2DE-4343-097AC9580009}"/>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1409755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50336B-F819-B89B-74EF-749639D990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FFC554-74D6-48E6-A17C-28398E2059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6D48BB-EABC-1FD8-A441-6C5893B17117}"/>
              </a:ext>
            </a:extLst>
          </p:cNvPr>
          <p:cNvSpPr>
            <a:spLocks noGrp="1"/>
          </p:cNvSpPr>
          <p:nvPr>
            <p:ph type="dt" sz="half" idx="10"/>
          </p:nvPr>
        </p:nvSpPr>
        <p:spPr/>
        <p:txBody>
          <a:bodyPr/>
          <a:lstStyle/>
          <a:p>
            <a:fld id="{9D85EFDD-0B5A-4D6C-846F-0B0A3F9DB060}" type="datetimeFigureOut">
              <a:rPr lang="en-IN" smtClean="0"/>
              <a:t>07-04-2026</a:t>
            </a:fld>
            <a:endParaRPr lang="en-IN"/>
          </a:p>
        </p:txBody>
      </p:sp>
      <p:sp>
        <p:nvSpPr>
          <p:cNvPr id="5" name="Footer Placeholder 4">
            <a:extLst>
              <a:ext uri="{FF2B5EF4-FFF2-40B4-BE49-F238E27FC236}">
                <a16:creationId xmlns:a16="http://schemas.microsoft.com/office/drawing/2014/main" id="{14E8268D-B5D7-3E84-4EB1-F4125A29B8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34CA13-61F9-E364-EB03-8F61165C386A}"/>
              </a:ext>
            </a:extLst>
          </p:cNvPr>
          <p:cNvSpPr>
            <a:spLocks noGrp="1"/>
          </p:cNvSpPr>
          <p:nvPr>
            <p:ph type="sldNum" sz="quarter" idx="12"/>
          </p:nvPr>
        </p:nvSpPr>
        <p:spPr/>
        <p:txBody>
          <a:bodyPr/>
          <a:lstStyle/>
          <a:p>
            <a:fld id="{EC246E6A-9E45-4948-8885-762DB0292099}" type="slidenum">
              <a:rPr lang="en-IN" smtClean="0"/>
              <a:t>‹#›</a:t>
            </a:fld>
            <a:endParaRPr lang="en-IN"/>
          </a:p>
        </p:txBody>
      </p:sp>
    </p:spTree>
    <p:extLst>
      <p:ext uri="{BB962C8B-B14F-4D97-AF65-F5344CB8AC3E}">
        <p14:creationId xmlns:p14="http://schemas.microsoft.com/office/powerpoint/2010/main" val="758229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9AE0A9-90CF-5D1E-A0DD-61FA0670A0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7E3D3D-7FEC-C1FC-55C3-5CADDCA8B6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B0A0A8-85EE-51C0-42F4-3FF484E407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85EFDD-0B5A-4D6C-846F-0B0A3F9DB060}" type="datetimeFigureOut">
              <a:rPr lang="en-IN" smtClean="0"/>
              <a:t>07-04-2026</a:t>
            </a:fld>
            <a:endParaRPr lang="en-IN"/>
          </a:p>
        </p:txBody>
      </p:sp>
      <p:sp>
        <p:nvSpPr>
          <p:cNvPr id="5" name="Footer Placeholder 4">
            <a:extLst>
              <a:ext uri="{FF2B5EF4-FFF2-40B4-BE49-F238E27FC236}">
                <a16:creationId xmlns:a16="http://schemas.microsoft.com/office/drawing/2014/main" id="{1513B06C-6BF4-FC24-40C9-B6C23194D8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065C05F-27F8-E4D4-6B46-71D28C873F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246E6A-9E45-4948-8885-762DB0292099}" type="slidenum">
              <a:rPr lang="en-IN" smtClean="0"/>
              <a:t>‹#›</a:t>
            </a:fld>
            <a:endParaRPr lang="en-IN"/>
          </a:p>
        </p:txBody>
      </p:sp>
    </p:spTree>
    <p:extLst>
      <p:ext uri="{BB962C8B-B14F-4D97-AF65-F5344CB8AC3E}">
        <p14:creationId xmlns:p14="http://schemas.microsoft.com/office/powerpoint/2010/main" val="1580964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5D4DEE-4FE3-B05B-CA73-A06BECAFA5B1}"/>
              </a:ext>
            </a:extLst>
          </p:cNvPr>
          <p:cNvSpPr/>
          <p:nvPr/>
        </p:nvSpPr>
        <p:spPr>
          <a:xfrm>
            <a:off x="2938349" y="1706658"/>
            <a:ext cx="6315301" cy="2552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dirty="0">
                <a:solidFill>
                  <a:srgbClr val="203864"/>
                </a:solidFill>
                <a:latin typeface="Times New Roman" panose="02020603050405020304" pitchFamily="18" charset="0"/>
                <a:cs typeface="Times New Roman" panose="02020603050405020304" pitchFamily="18" charset="0"/>
              </a:rPr>
              <a:t>Loan Approval Analysis </a:t>
            </a:r>
          </a:p>
          <a:p>
            <a:pPr algn="ctr"/>
            <a:r>
              <a:rPr lang="en-IN" sz="4800" dirty="0">
                <a:solidFill>
                  <a:srgbClr val="203864"/>
                </a:solidFill>
                <a:latin typeface="Times New Roman" panose="02020603050405020304" pitchFamily="18" charset="0"/>
                <a:cs typeface="Times New Roman" panose="02020603050405020304" pitchFamily="18" charset="0"/>
              </a:rPr>
              <a:t>&amp; </a:t>
            </a:r>
          </a:p>
          <a:p>
            <a:pPr algn="ctr"/>
            <a:r>
              <a:rPr lang="en-IN" sz="4800" dirty="0">
                <a:solidFill>
                  <a:srgbClr val="203864"/>
                </a:solidFill>
                <a:latin typeface="Times New Roman" panose="02020603050405020304" pitchFamily="18" charset="0"/>
                <a:cs typeface="Times New Roman" panose="02020603050405020304" pitchFamily="18" charset="0"/>
              </a:rPr>
              <a:t>Prediction</a:t>
            </a:r>
          </a:p>
        </p:txBody>
      </p:sp>
    </p:spTree>
    <p:extLst>
      <p:ext uri="{BB962C8B-B14F-4D97-AF65-F5344CB8AC3E}">
        <p14:creationId xmlns:p14="http://schemas.microsoft.com/office/powerpoint/2010/main" val="3264876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C35-22E3-AA99-CB02-0DD3251B2F37}"/>
              </a:ext>
            </a:extLst>
          </p:cNvPr>
          <p:cNvSpPr>
            <a:spLocks noGrp="1"/>
          </p:cNvSpPr>
          <p:nvPr>
            <p:ph type="title"/>
          </p:nvPr>
        </p:nvSpPr>
        <p:spPr>
          <a:xfrm>
            <a:off x="586614" y="418768"/>
            <a:ext cx="3457199" cy="626261"/>
          </a:xfrm>
        </p:spPr>
        <p:txBody>
          <a:bodyPr>
            <a:normAutofit/>
          </a:bodyPr>
          <a:lstStyle/>
          <a:p>
            <a:r>
              <a:rPr lang="en-CA" sz="3200" dirty="0">
                <a:solidFill>
                  <a:schemeClr val="accent1">
                    <a:lumMod val="50000"/>
                  </a:schemeClr>
                </a:solidFill>
                <a:latin typeface="Times New Roman" panose="02020603050405020304" pitchFamily="18" charset="0"/>
                <a:cs typeface="Times New Roman" panose="02020603050405020304" pitchFamily="18" charset="0"/>
              </a:rPr>
              <a:t>Contents / Agenda</a:t>
            </a:r>
            <a:endParaRPr lang="en-IN"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63C21E5-DF40-BDB2-2551-BA83BA917852}"/>
              </a:ext>
            </a:extLst>
          </p:cNvPr>
          <p:cNvSpPr>
            <a:spLocks noGrp="1"/>
          </p:cNvSpPr>
          <p:nvPr>
            <p:ph type="body" idx="1"/>
          </p:nvPr>
        </p:nvSpPr>
        <p:spPr>
          <a:xfrm>
            <a:off x="472318" y="1112770"/>
            <a:ext cx="10857066" cy="4970207"/>
          </a:xfrm>
        </p:spPr>
        <p:txBody>
          <a:bodyPr>
            <a:normAutofit lnSpcReduction="10000"/>
          </a:bodyPr>
          <a:lstStyle/>
          <a:p>
            <a:pPr marL="800100" lvl="1" indent="-342900">
              <a:lnSpc>
                <a:spcPct val="150000"/>
              </a:lnSpc>
              <a:buFont typeface="Wingdings" panose="05000000000000000000" pitchFamily="2" charset="2"/>
              <a:buChar char="Ø"/>
            </a:pPr>
            <a:r>
              <a:rPr lang="en-US" sz="1600" dirty="0">
                <a:solidFill>
                  <a:schemeClr val="accent1">
                    <a:lumMod val="50000"/>
                  </a:schemeClr>
                </a:solidFill>
                <a:latin typeface="Times New Roman" panose="02020603050405020304" pitchFamily="18" charset="0"/>
                <a:cs typeface="Times New Roman" panose="02020603050405020304" pitchFamily="18" charset="0"/>
              </a:rPr>
              <a:t>Executive Summary – Insights &amp; Recommendations</a:t>
            </a:r>
          </a:p>
          <a:p>
            <a:pPr marL="800100" lvl="1" indent="-342900">
              <a:lnSpc>
                <a:spcPct val="150000"/>
              </a:lnSpc>
              <a:buFont typeface="Wingdings" panose="05000000000000000000" pitchFamily="2" charset="2"/>
              <a:buChar char="Ø"/>
            </a:pPr>
            <a:r>
              <a:rPr lang="en-US" sz="1600" dirty="0">
                <a:solidFill>
                  <a:schemeClr val="accent1">
                    <a:lumMod val="50000"/>
                  </a:schemeClr>
                </a:solidFill>
                <a:latin typeface="Times New Roman" panose="02020603050405020304" pitchFamily="18" charset="0"/>
                <a:cs typeface="Times New Roman" panose="02020603050405020304" pitchFamily="18" charset="0"/>
              </a:rPr>
              <a:t>Business Problem Overview</a:t>
            </a:r>
          </a:p>
          <a:p>
            <a:pPr marL="800100" lvl="1" indent="-342900">
              <a:lnSpc>
                <a:spcPct val="150000"/>
              </a:lnSpc>
              <a:buFont typeface="Wingdings" panose="05000000000000000000" pitchFamily="2" charset="2"/>
              <a:buChar char="Ø"/>
            </a:pPr>
            <a:r>
              <a:rPr lang="en-US" sz="1600" dirty="0">
                <a:solidFill>
                  <a:schemeClr val="accent1">
                    <a:lumMod val="50000"/>
                  </a:schemeClr>
                </a:solidFill>
                <a:latin typeface="Times New Roman" panose="02020603050405020304" pitchFamily="18" charset="0"/>
                <a:cs typeface="Times New Roman" panose="02020603050405020304" pitchFamily="18" charset="0"/>
              </a:rPr>
              <a:t>Solution Approach</a:t>
            </a:r>
          </a:p>
          <a:p>
            <a:pPr marL="800100" lvl="1" indent="-342900">
              <a:lnSpc>
                <a:spcPct val="150000"/>
              </a:lnSpc>
              <a:buFont typeface="Wingdings" panose="05000000000000000000" pitchFamily="2" charset="2"/>
              <a:buChar char="Ø"/>
            </a:pPr>
            <a:r>
              <a:rPr lang="en-US" sz="1600" dirty="0">
                <a:solidFill>
                  <a:schemeClr val="accent1">
                    <a:lumMod val="50000"/>
                  </a:schemeClr>
                </a:solidFill>
                <a:latin typeface="Times New Roman" panose="02020603050405020304" pitchFamily="18" charset="0"/>
                <a:cs typeface="Times New Roman" panose="02020603050405020304" pitchFamily="18" charset="0"/>
              </a:rPr>
              <a:t>Data Dictionary</a:t>
            </a:r>
          </a:p>
          <a:p>
            <a:pPr marL="800100" lvl="1" indent="-342900">
              <a:lnSpc>
                <a:spcPct val="150000"/>
              </a:lnSpc>
              <a:buFont typeface="Wingdings" panose="05000000000000000000" pitchFamily="2" charset="2"/>
              <a:buChar char="Ø"/>
            </a:pPr>
            <a:r>
              <a:rPr lang="en-US" sz="1600" dirty="0">
                <a:solidFill>
                  <a:schemeClr val="accent1">
                    <a:lumMod val="50000"/>
                  </a:schemeClr>
                </a:solidFill>
                <a:latin typeface="Times New Roman" panose="02020603050405020304" pitchFamily="18" charset="0"/>
                <a:cs typeface="Times New Roman" panose="02020603050405020304" pitchFamily="18" charset="0"/>
              </a:rPr>
              <a:t>Solution Design and Methodology</a:t>
            </a:r>
          </a:p>
          <a:p>
            <a:pPr marL="800100" lvl="1" indent="-342900">
              <a:lnSpc>
                <a:spcPct val="150000"/>
              </a:lnSpc>
              <a:buFont typeface="Wingdings" panose="05000000000000000000" pitchFamily="2" charset="2"/>
              <a:buChar char="Ø"/>
            </a:pPr>
            <a:r>
              <a:rPr lang="en-US" sz="1600" dirty="0">
                <a:solidFill>
                  <a:schemeClr val="accent1">
                    <a:lumMod val="50000"/>
                  </a:schemeClr>
                </a:solidFill>
                <a:latin typeface="Times New Roman" panose="02020603050405020304" pitchFamily="18" charset="0"/>
                <a:cs typeface="Times New Roman" panose="02020603050405020304" pitchFamily="18" charset="0"/>
              </a:rPr>
              <a:t>Data Preprocessing</a:t>
            </a:r>
          </a:p>
          <a:p>
            <a:pPr marL="800100" lvl="1" indent="-342900">
              <a:lnSpc>
                <a:spcPct val="150000"/>
              </a:lnSpc>
              <a:buFont typeface="Wingdings" panose="05000000000000000000" pitchFamily="2" charset="2"/>
              <a:buChar char="Ø"/>
            </a:pPr>
            <a:r>
              <a:rPr lang="en-IN" sz="1600" dirty="0">
                <a:solidFill>
                  <a:schemeClr val="accent1">
                    <a:lumMod val="50000"/>
                  </a:schemeClr>
                </a:solidFill>
                <a:latin typeface="Times New Roman" panose="02020603050405020304" pitchFamily="18" charset="0"/>
                <a:cs typeface="Times New Roman" panose="02020603050405020304" pitchFamily="18" charset="0"/>
              </a:rPr>
              <a:t>Exploratory Data Analysis (EDA)</a:t>
            </a:r>
          </a:p>
          <a:p>
            <a:pPr marL="800100" lvl="1" indent="-342900">
              <a:lnSpc>
                <a:spcPct val="150000"/>
              </a:lnSpc>
              <a:buFont typeface="Wingdings" panose="05000000000000000000" pitchFamily="2" charset="2"/>
              <a:buChar char="Ø"/>
            </a:pPr>
            <a:r>
              <a:rPr lang="en-IN" sz="1600" dirty="0">
                <a:solidFill>
                  <a:schemeClr val="accent1">
                    <a:lumMod val="50000"/>
                  </a:schemeClr>
                </a:solidFill>
                <a:latin typeface="Times New Roman" panose="02020603050405020304" pitchFamily="18" charset="0"/>
                <a:cs typeface="Times New Roman" panose="02020603050405020304" pitchFamily="18" charset="0"/>
              </a:rPr>
              <a:t>Model Development</a:t>
            </a:r>
          </a:p>
          <a:p>
            <a:pPr marL="800100" lvl="1" indent="-342900">
              <a:lnSpc>
                <a:spcPct val="150000"/>
              </a:lnSpc>
              <a:buFont typeface="Wingdings" panose="05000000000000000000" pitchFamily="2" charset="2"/>
              <a:buChar char="Ø"/>
            </a:pPr>
            <a:r>
              <a:rPr lang="en-IN" sz="1600" dirty="0">
                <a:solidFill>
                  <a:schemeClr val="accent1">
                    <a:lumMod val="50000"/>
                  </a:schemeClr>
                </a:solidFill>
                <a:latin typeface="Times New Roman" panose="02020603050405020304" pitchFamily="18" charset="0"/>
                <a:cs typeface="Times New Roman" panose="02020603050405020304" pitchFamily="18" charset="0"/>
              </a:rPr>
              <a:t>Model Evaluation &amp; Performance Evaluation</a:t>
            </a:r>
          </a:p>
          <a:p>
            <a:pPr marL="800100" lvl="1" indent="-342900">
              <a:lnSpc>
                <a:spcPct val="150000"/>
              </a:lnSpc>
              <a:buFont typeface="Wingdings" panose="05000000000000000000" pitchFamily="2" charset="2"/>
              <a:buChar char="Ø"/>
            </a:pPr>
            <a:r>
              <a:rPr lang="en-IN" sz="1600" dirty="0">
                <a:solidFill>
                  <a:schemeClr val="accent1">
                    <a:lumMod val="50000"/>
                  </a:schemeClr>
                </a:solidFill>
                <a:latin typeface="Times New Roman" panose="02020603050405020304" pitchFamily="18" charset="0"/>
                <a:cs typeface="Times New Roman" panose="02020603050405020304" pitchFamily="18" charset="0"/>
              </a:rPr>
              <a:t>Model Comparison &amp; Selection</a:t>
            </a:r>
          </a:p>
          <a:p>
            <a:pPr marL="800100" lvl="1" indent="-342900">
              <a:lnSpc>
                <a:spcPct val="150000"/>
              </a:lnSpc>
              <a:buFont typeface="Wingdings" panose="05000000000000000000" pitchFamily="2" charset="2"/>
              <a:buChar char="Ø"/>
            </a:pPr>
            <a:r>
              <a:rPr lang="en-IN" sz="1600" dirty="0">
                <a:solidFill>
                  <a:schemeClr val="accent1">
                    <a:lumMod val="50000"/>
                  </a:schemeClr>
                </a:solidFill>
                <a:latin typeface="Times New Roman" panose="02020603050405020304" pitchFamily="18" charset="0"/>
                <a:cs typeface="Times New Roman" panose="02020603050405020304" pitchFamily="18" charset="0"/>
              </a:rPr>
              <a:t>Dashboard Development &amp; Visualization</a:t>
            </a:r>
            <a:endParaRPr lang="en-US" sz="1600" dirty="0">
              <a:solidFill>
                <a:schemeClr val="accent1">
                  <a:lumMod val="50000"/>
                </a:schemeClr>
              </a:solidFill>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1600" dirty="0">
                <a:solidFill>
                  <a:schemeClr val="accent1">
                    <a:lumMod val="50000"/>
                  </a:schemeClr>
                </a:solidFill>
                <a:latin typeface="Times New Roman" panose="02020603050405020304" pitchFamily="18" charset="0"/>
                <a:cs typeface="Times New Roman" panose="02020603050405020304" pitchFamily="18" charset="0"/>
              </a:rPr>
              <a:t>Conclusions and Recommendations</a:t>
            </a:r>
          </a:p>
          <a:p>
            <a:pPr lvl="1"/>
            <a:endParaRPr lang="en-IN" sz="1600" dirty="0"/>
          </a:p>
        </p:txBody>
      </p:sp>
    </p:spTree>
    <p:extLst>
      <p:ext uri="{BB962C8B-B14F-4D97-AF65-F5344CB8AC3E}">
        <p14:creationId xmlns:p14="http://schemas.microsoft.com/office/powerpoint/2010/main" val="4176844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406B7E-C390-2392-2D6F-ADF6AACD0FEA}"/>
              </a:ext>
            </a:extLst>
          </p:cNvPr>
          <p:cNvSpPr txBox="1"/>
          <p:nvPr/>
        </p:nvSpPr>
        <p:spPr>
          <a:xfrm>
            <a:off x="623282" y="924623"/>
            <a:ext cx="10956189" cy="4920834"/>
          </a:xfrm>
          <a:prstGeom prst="rect">
            <a:avLst/>
          </a:prstGeom>
          <a:noFill/>
        </p:spPr>
        <p:txBody>
          <a:bodyPr wrap="square" rtlCol="0">
            <a:spAutoFit/>
          </a:bodyPr>
          <a:lstStyle/>
          <a:p>
            <a:pPr algn="just">
              <a:lnSpc>
                <a:spcPct val="150000"/>
              </a:lnSpc>
              <a:spcAft>
                <a:spcPts val="1200"/>
              </a:spcAft>
            </a:pPr>
            <a:r>
              <a:rPr lang="en-IN" noProof="0" dirty="0">
                <a:latin typeface="Times New Roman" panose="02020603050405020304" pitchFamily="18" charset="0"/>
                <a:cs typeface="Times New Roman" panose="02020603050405020304" pitchFamily="18" charset="0"/>
              </a:rPr>
              <a:t>This project is based on a synthetic loan approval dataset designed to simulate real-world banking decision-making. The dataset contains 50,000 records with customer details. It includes features such as credit score, income, current  debt, savings etc, along with a target variable indicating whether a loan is approved or rejected.</a:t>
            </a:r>
          </a:p>
          <a:p>
            <a:pPr algn="just">
              <a:lnSpc>
                <a:spcPct val="150000"/>
              </a:lnSpc>
              <a:spcAft>
                <a:spcPts val="1200"/>
              </a:spcAft>
            </a:pPr>
            <a:r>
              <a:rPr lang="en-IN" noProof="0" dirty="0">
                <a:latin typeface="Times New Roman" panose="02020603050405020304" pitchFamily="18" charset="0"/>
                <a:cs typeface="Times New Roman" panose="02020603050405020304" pitchFamily="18" charset="0"/>
              </a:rPr>
              <a:t>The dataset is built using realistic banking rules and correlations followed by financial institutions in the United States and Canada. It reflects actual lending criteria such as the impact of credit score, debt-to-income ratio, and past defaults on loan approval decisions. This makes the dataset suitable for understanding credit risk modelling and real-world loan evaluation processes.</a:t>
            </a:r>
          </a:p>
          <a:p>
            <a:pPr algn="just">
              <a:lnSpc>
                <a:spcPct val="150000"/>
              </a:lnSpc>
              <a:spcAft>
                <a:spcPts val="1200"/>
              </a:spcAft>
            </a:pPr>
            <a:r>
              <a:rPr lang="en-IN" noProof="0" dirty="0">
                <a:latin typeface="Times New Roman" panose="02020603050405020304" pitchFamily="18" charset="0"/>
                <a:cs typeface="Times New Roman" panose="02020603050405020304" pitchFamily="18" charset="0"/>
              </a:rPr>
              <a:t>In this project, data preprocessing and exploratory data analysis (EDA) techniques were applied to understand the dataset and identify key patterns. A Power BI dashboard was developed for visualization, and machine learning models were used to predict loan approval outcomes. The project demonstrates how data-driven techniques can be used to support and improve loan approval decision-making.</a:t>
            </a:r>
          </a:p>
        </p:txBody>
      </p:sp>
      <p:sp>
        <p:nvSpPr>
          <p:cNvPr id="5" name="TextBox 4">
            <a:extLst>
              <a:ext uri="{FF2B5EF4-FFF2-40B4-BE49-F238E27FC236}">
                <a16:creationId xmlns:a16="http://schemas.microsoft.com/office/drawing/2014/main" id="{F9C2FFE4-7CFA-D26E-FFE8-C47AE9FC6CF4}"/>
              </a:ext>
            </a:extLst>
          </p:cNvPr>
          <p:cNvSpPr txBox="1"/>
          <p:nvPr/>
        </p:nvSpPr>
        <p:spPr>
          <a:xfrm>
            <a:off x="0" y="225552"/>
            <a:ext cx="12192000" cy="584775"/>
          </a:xfrm>
          <a:prstGeom prst="rect">
            <a:avLst/>
          </a:prstGeom>
          <a:noFill/>
        </p:spPr>
        <p:txBody>
          <a:bodyPr wrap="square" rtlCol="0">
            <a:spAutoFit/>
          </a:bodyPr>
          <a:lstStyle/>
          <a:p>
            <a:pPr algn="ctr"/>
            <a:r>
              <a:rPr lang="en-US" sz="3200" dirty="0">
                <a:solidFill>
                  <a:schemeClr val="accent1">
                    <a:lumMod val="50000"/>
                  </a:schemeClr>
                </a:solidFill>
                <a:latin typeface="Times New Roman" panose="02020603050405020304" pitchFamily="18" charset="0"/>
                <a:cs typeface="Times New Roman" panose="02020603050405020304" pitchFamily="18" charset="0"/>
              </a:rPr>
              <a:t>Executive Summary</a:t>
            </a:r>
            <a:endParaRPr lang="en-IN" sz="3200" dirty="0"/>
          </a:p>
        </p:txBody>
      </p:sp>
    </p:spTree>
    <p:extLst>
      <p:ext uri="{BB962C8B-B14F-4D97-AF65-F5344CB8AC3E}">
        <p14:creationId xmlns:p14="http://schemas.microsoft.com/office/powerpoint/2010/main" val="3462963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7D484-67A4-EAE5-5EA3-8EFBB0BF9C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161ADE-E90D-1FCF-AC6A-D80F9DEA1B26}"/>
              </a:ext>
            </a:extLst>
          </p:cNvPr>
          <p:cNvSpPr txBox="1"/>
          <p:nvPr/>
        </p:nvSpPr>
        <p:spPr>
          <a:xfrm>
            <a:off x="605693" y="845492"/>
            <a:ext cx="10956189" cy="2092881"/>
          </a:xfrm>
          <a:prstGeom prst="rect">
            <a:avLst/>
          </a:prstGeom>
          <a:noFill/>
        </p:spPr>
        <p:txBody>
          <a:bodyPr wrap="square" rtlCol="0">
            <a:spAutoFit/>
          </a:bodyPr>
          <a:lstStyle/>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 with higher credit scores and higher income have a higher probability of loan approval.</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Current debt plays a major role, and customers with higher debt are more likely to be rejected.</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 with past default history are usually rejected for loan approval.</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 with better financial stability (low debt + good credit score) are more likely to be approved.</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Loan approval decisions are based on a combination of factors, not a single attribute.</a:t>
            </a:r>
          </a:p>
        </p:txBody>
      </p:sp>
      <p:sp>
        <p:nvSpPr>
          <p:cNvPr id="5" name="TextBox 4">
            <a:extLst>
              <a:ext uri="{FF2B5EF4-FFF2-40B4-BE49-F238E27FC236}">
                <a16:creationId xmlns:a16="http://schemas.microsoft.com/office/drawing/2014/main" id="{21FD4989-5E7E-C003-D744-016385F97EDD}"/>
              </a:ext>
            </a:extLst>
          </p:cNvPr>
          <p:cNvSpPr txBox="1"/>
          <p:nvPr/>
        </p:nvSpPr>
        <p:spPr>
          <a:xfrm>
            <a:off x="719990" y="225552"/>
            <a:ext cx="5105400" cy="523220"/>
          </a:xfrm>
          <a:prstGeom prst="rect">
            <a:avLst/>
          </a:prstGeom>
          <a:noFill/>
        </p:spPr>
        <p:txBody>
          <a:bodyPr wrap="square" rtlCol="0">
            <a:spAutoFit/>
          </a:bodyPr>
          <a:lstStyle/>
          <a:p>
            <a:r>
              <a:rPr lang="en-US" sz="2800" dirty="0">
                <a:solidFill>
                  <a:schemeClr val="accent1">
                    <a:lumMod val="50000"/>
                  </a:schemeClr>
                </a:solidFill>
                <a:latin typeface="Times New Roman" panose="02020603050405020304" pitchFamily="18" charset="0"/>
                <a:cs typeface="Times New Roman" panose="02020603050405020304" pitchFamily="18" charset="0"/>
              </a:rPr>
              <a:t>Key Insights </a:t>
            </a:r>
            <a:endParaRPr lang="en-IN" sz="3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86ED278-C363-363B-1D05-4BCCC9E8DD1B}"/>
              </a:ext>
            </a:extLst>
          </p:cNvPr>
          <p:cNvSpPr txBox="1"/>
          <p:nvPr/>
        </p:nvSpPr>
        <p:spPr>
          <a:xfrm>
            <a:off x="605693" y="3862493"/>
            <a:ext cx="10956189" cy="2523768"/>
          </a:xfrm>
          <a:prstGeom prst="rect">
            <a:avLst/>
          </a:prstGeom>
          <a:noFill/>
        </p:spPr>
        <p:txBody>
          <a:bodyPr wrap="square" rtlCol="0">
            <a:spAutoFit/>
          </a:bodyPr>
          <a:lstStyle/>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Approve customers with a strong credit score and </a:t>
            </a:r>
            <a:r>
              <a:rPr lang="en-IN" dirty="0">
                <a:latin typeface="Times New Roman" panose="02020603050405020304" pitchFamily="18" charset="0"/>
                <a:cs typeface="Times New Roman" panose="02020603050405020304" pitchFamily="18" charset="0"/>
              </a:rPr>
              <a:t>stable</a:t>
            </a:r>
            <a:r>
              <a:rPr lang="en-US" dirty="0">
                <a:latin typeface="Times New Roman" panose="02020603050405020304" pitchFamily="18" charset="0"/>
                <a:cs typeface="Times New Roman" panose="02020603050405020304" pitchFamily="18" charset="0"/>
              </a:rPr>
              <a:t> income.</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 approving customers with high debt-to-income (DTI) ratio.</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 with past default history should not be approved for loans.</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 savings asset while evaluating loan applications.</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Evaluate the overall financial profile (credit score, income, debt, savings) rather than a single factor</a:t>
            </a:r>
          </a:p>
          <a:p>
            <a:pPr marL="742950" lvl="1" indent="-28575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data-driven models to automate and improve loan approval decisions </a:t>
            </a:r>
          </a:p>
        </p:txBody>
      </p:sp>
      <p:sp>
        <p:nvSpPr>
          <p:cNvPr id="4" name="TextBox 3">
            <a:extLst>
              <a:ext uri="{FF2B5EF4-FFF2-40B4-BE49-F238E27FC236}">
                <a16:creationId xmlns:a16="http://schemas.microsoft.com/office/drawing/2014/main" id="{4E0271CC-1A57-8AAC-E85B-C90F80D586A3}"/>
              </a:ext>
            </a:extLst>
          </p:cNvPr>
          <p:cNvSpPr txBox="1"/>
          <p:nvPr/>
        </p:nvSpPr>
        <p:spPr>
          <a:xfrm>
            <a:off x="723410" y="3226784"/>
            <a:ext cx="5105400" cy="523220"/>
          </a:xfrm>
          <a:prstGeom prst="rect">
            <a:avLst/>
          </a:prstGeom>
          <a:noFill/>
        </p:spPr>
        <p:txBody>
          <a:bodyPr wrap="square" rtlCol="0">
            <a:spAutoFit/>
          </a:bodyPr>
          <a:lstStyle/>
          <a:p>
            <a:r>
              <a:rPr lang="en-US" sz="2800" dirty="0">
                <a:solidFill>
                  <a:schemeClr val="accent1">
                    <a:lumMod val="50000"/>
                  </a:schemeClr>
                </a:solidFill>
                <a:latin typeface="Times New Roman" panose="02020603050405020304" pitchFamily="18" charset="0"/>
                <a:cs typeface="Times New Roman" panose="02020603050405020304" pitchFamily="18" charset="0"/>
              </a:rPr>
              <a:t>Recommendations </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1025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A1AF-6AF4-12E1-31C4-BF62FBF5C8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848979-4F62-D88D-643B-736EB977B63F}"/>
              </a:ext>
            </a:extLst>
          </p:cNvPr>
          <p:cNvSpPr txBox="1"/>
          <p:nvPr/>
        </p:nvSpPr>
        <p:spPr>
          <a:xfrm>
            <a:off x="623277" y="977381"/>
            <a:ext cx="10956189" cy="3265638"/>
          </a:xfrm>
          <a:prstGeom prst="rect">
            <a:avLst/>
          </a:prstGeom>
          <a:noFill/>
        </p:spPr>
        <p:txBody>
          <a:bodyPr wrap="square" rtlCol="0">
            <a:spAutoFit/>
          </a:bodyPr>
          <a:lstStyle/>
          <a:p>
            <a:pPr algn="just">
              <a:lnSpc>
                <a:spcPct val="150000"/>
              </a:lnSpc>
              <a:spcAft>
                <a:spcPts val="1200"/>
              </a:spcAft>
            </a:pPr>
            <a:r>
              <a:rPr lang="en-US" dirty="0">
                <a:latin typeface="Times New Roman" panose="02020603050405020304" pitchFamily="18" charset="0"/>
                <a:cs typeface="Times New Roman" panose="02020603050405020304" pitchFamily="18" charset="0"/>
              </a:rPr>
              <a:t>Banks receive a large number of loan applications, but it is difficult to identify which customers are reliable. Approving loans to high-risk customers can lead to financial loss, while rejecting eligible customers can reduce business opportunities.</a:t>
            </a:r>
          </a:p>
          <a:p>
            <a:pPr algn="just">
              <a:lnSpc>
                <a:spcPct val="150000"/>
              </a:lnSpc>
              <a:spcAft>
                <a:spcPts val="1200"/>
              </a:spcAft>
            </a:pPr>
            <a:r>
              <a:rPr lang="en-US" dirty="0">
                <a:latin typeface="Times New Roman" panose="02020603050405020304" pitchFamily="18" charset="0"/>
                <a:cs typeface="Times New Roman" panose="02020603050405020304" pitchFamily="18" charset="0"/>
              </a:rPr>
              <a:t>Currently, many loan approval decisions are based on manual evaluation or simple rules, which may not always be accurate or consistent. This creates a need for a more efficient and data-driven approach.</a:t>
            </a:r>
          </a:p>
          <a:p>
            <a:pPr algn="just">
              <a:lnSpc>
                <a:spcPct val="150000"/>
              </a:lnSpc>
            </a:pPr>
            <a:r>
              <a:rPr lang="en-US" dirty="0">
                <a:latin typeface="Times New Roman" panose="02020603050405020304" pitchFamily="18" charset="0"/>
                <a:cs typeface="Times New Roman" panose="02020603050405020304" pitchFamily="18" charset="0"/>
              </a:rPr>
              <a:t>Therefore, the main problem is to develop a system that can analyze customer financial and credit data to predict whether a loan should be approved or rejected, helping banks make better and faster decisions.</a:t>
            </a:r>
          </a:p>
        </p:txBody>
      </p:sp>
      <p:sp>
        <p:nvSpPr>
          <p:cNvPr id="5" name="TextBox 4">
            <a:extLst>
              <a:ext uri="{FF2B5EF4-FFF2-40B4-BE49-F238E27FC236}">
                <a16:creationId xmlns:a16="http://schemas.microsoft.com/office/drawing/2014/main" id="{31B8DDB8-A812-F934-30FE-648D7A2386EE}"/>
              </a:ext>
            </a:extLst>
          </p:cNvPr>
          <p:cNvSpPr txBox="1"/>
          <p:nvPr/>
        </p:nvSpPr>
        <p:spPr>
          <a:xfrm>
            <a:off x="0" y="278304"/>
            <a:ext cx="12192000" cy="584775"/>
          </a:xfrm>
          <a:prstGeom prst="rect">
            <a:avLst/>
          </a:prstGeom>
          <a:noFill/>
        </p:spPr>
        <p:txBody>
          <a:bodyPr wrap="square" rtlCol="0">
            <a:spAutoFit/>
          </a:bodyPr>
          <a:lstStyle/>
          <a:p>
            <a:pPr algn="ctr"/>
            <a:r>
              <a:rPr lang="en-IN" sz="3200" dirty="0">
                <a:solidFill>
                  <a:schemeClr val="accent1">
                    <a:lumMod val="50000"/>
                  </a:schemeClr>
                </a:solidFill>
                <a:latin typeface="Times New Roman" panose="02020603050405020304" pitchFamily="18" charset="0"/>
                <a:cs typeface="Times New Roman" panose="02020603050405020304" pitchFamily="18" charset="0"/>
              </a:rPr>
              <a:t>Business</a:t>
            </a:r>
            <a:r>
              <a:rPr lang="en-IN" sz="3200" b="1" dirty="0">
                <a:solidFill>
                  <a:schemeClr val="accent1">
                    <a:lumMod val="50000"/>
                  </a:schemeClr>
                </a:solidFill>
                <a:latin typeface="Times New Roman" panose="02020603050405020304" pitchFamily="18" charset="0"/>
                <a:cs typeface="Times New Roman" panose="02020603050405020304" pitchFamily="18" charset="0"/>
              </a:rPr>
              <a:t> </a:t>
            </a:r>
            <a:r>
              <a:rPr lang="en-IN" sz="3200" dirty="0">
                <a:solidFill>
                  <a:schemeClr val="accent1">
                    <a:lumMod val="50000"/>
                  </a:schemeClr>
                </a:solidFill>
                <a:latin typeface="Times New Roman" panose="02020603050405020304" pitchFamily="18" charset="0"/>
                <a:cs typeface="Times New Roman" panose="02020603050405020304" pitchFamily="18" charset="0"/>
              </a:rPr>
              <a:t>Problem</a:t>
            </a:r>
            <a:r>
              <a:rPr lang="en-IN" sz="3200" b="1" dirty="0">
                <a:solidFill>
                  <a:schemeClr val="accent1">
                    <a:lumMod val="50000"/>
                  </a:schemeClr>
                </a:solidFill>
                <a:latin typeface="Times New Roman" panose="02020603050405020304" pitchFamily="18" charset="0"/>
                <a:cs typeface="Times New Roman" panose="02020603050405020304" pitchFamily="18" charset="0"/>
              </a:rPr>
              <a:t> </a:t>
            </a:r>
            <a:r>
              <a:rPr lang="en-IN" sz="3200" dirty="0">
                <a:solidFill>
                  <a:schemeClr val="accent1">
                    <a:lumMod val="50000"/>
                  </a:schemeClr>
                </a:solidFill>
                <a:latin typeface="Times New Roman" panose="02020603050405020304" pitchFamily="18" charset="0"/>
                <a:cs typeface="Times New Roman" panose="02020603050405020304" pitchFamily="18" charset="0"/>
              </a:rPr>
              <a:t>Overview</a:t>
            </a:r>
          </a:p>
        </p:txBody>
      </p:sp>
    </p:spTree>
    <p:extLst>
      <p:ext uri="{BB962C8B-B14F-4D97-AF65-F5344CB8AC3E}">
        <p14:creationId xmlns:p14="http://schemas.microsoft.com/office/powerpoint/2010/main" val="108275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41BE9-BF85-BDF8-59E1-067C7BBE33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7447B0-49D8-3BEB-368A-E0891F6D2FFF}"/>
              </a:ext>
            </a:extLst>
          </p:cNvPr>
          <p:cNvSpPr txBox="1"/>
          <p:nvPr/>
        </p:nvSpPr>
        <p:spPr>
          <a:xfrm>
            <a:off x="0" y="278304"/>
            <a:ext cx="12192000" cy="584775"/>
          </a:xfrm>
          <a:prstGeom prst="rect">
            <a:avLst/>
          </a:prstGeom>
          <a:noFill/>
        </p:spPr>
        <p:txBody>
          <a:bodyPr wrap="square" rtlCol="0">
            <a:spAutoFit/>
          </a:bodyPr>
          <a:lstStyle/>
          <a:p>
            <a:pPr algn="ctr"/>
            <a:r>
              <a:rPr lang="en-IN" sz="3200" noProof="0" dirty="0">
                <a:solidFill>
                  <a:schemeClr val="accent1">
                    <a:lumMod val="50000"/>
                  </a:schemeClr>
                </a:solidFill>
                <a:latin typeface="Times New Roman" panose="02020603050405020304" pitchFamily="18" charset="0"/>
                <a:cs typeface="Times New Roman" panose="02020603050405020304" pitchFamily="18" charset="0"/>
              </a:rPr>
              <a:t>Solution Approach </a:t>
            </a:r>
          </a:p>
        </p:txBody>
      </p:sp>
      <p:sp>
        <p:nvSpPr>
          <p:cNvPr id="6" name="TextBox 5">
            <a:extLst>
              <a:ext uri="{FF2B5EF4-FFF2-40B4-BE49-F238E27FC236}">
                <a16:creationId xmlns:a16="http://schemas.microsoft.com/office/drawing/2014/main" id="{95812DF5-7BD4-2C89-E2D0-4DBD6FE001E4}"/>
              </a:ext>
            </a:extLst>
          </p:cNvPr>
          <p:cNvSpPr txBox="1"/>
          <p:nvPr/>
        </p:nvSpPr>
        <p:spPr>
          <a:xfrm>
            <a:off x="692638" y="942214"/>
            <a:ext cx="10806723" cy="5596404"/>
          </a:xfrm>
          <a:prstGeom prst="rect">
            <a:avLst/>
          </a:prstGeom>
          <a:noFill/>
        </p:spPr>
        <p:txBody>
          <a:bodyPr wrap="square" rtlCol="0">
            <a:spAutoFit/>
          </a:bodyPr>
          <a:lstStyle>
            <a:defPPr>
              <a:defRPr lang="en-US"/>
            </a:defPPr>
            <a:lvl2pPr marL="742950" lvl="1" indent="-285750" algn="just">
              <a:spcAft>
                <a:spcPts val="1200"/>
              </a:spcAft>
              <a:buFont typeface="Arial" panose="020B0604020202020204" pitchFamily="34" charset="0"/>
              <a:buChar char="•"/>
              <a:defRPr/>
            </a:lvl2pPr>
          </a:lstStyle>
          <a:p>
            <a:pPr algn="just">
              <a:lnSpc>
                <a:spcPct val="150000"/>
              </a:lnSpc>
              <a:spcAft>
                <a:spcPts val="800"/>
              </a:spcAft>
            </a:pPr>
            <a:r>
              <a:rPr lang="en-US" sz="2000" dirty="0">
                <a:latin typeface="Times New Roman" panose="02020603050405020304" pitchFamily="18" charset="0"/>
                <a:cs typeface="Times New Roman" panose="02020603050405020304" pitchFamily="18" charset="0"/>
              </a:rPr>
              <a:t>The following questions were considered during the analysis</a:t>
            </a:r>
            <a:endParaRPr lang="en-IN" sz="2000" dirty="0">
              <a:latin typeface="Times New Roman" panose="02020603050405020304" pitchFamily="18" charset="0"/>
              <a:cs typeface="Times New Roman" panose="02020603050405020304" pitchFamily="18" charset="0"/>
            </a:endParaRPr>
          </a:p>
          <a:p>
            <a:pPr lvl="1">
              <a:lnSpc>
                <a:spcPct val="150000"/>
              </a:lnSpc>
              <a:spcAft>
                <a:spcPts val="800"/>
              </a:spcAft>
            </a:pPr>
            <a:r>
              <a:rPr lang="en-US" dirty="0">
                <a:latin typeface="Times New Roman" panose="02020603050405020304" pitchFamily="18" charset="0"/>
                <a:cs typeface="Times New Roman" panose="02020603050405020304" pitchFamily="18" charset="0"/>
              </a:rPr>
              <a:t>What is the overall distribution of loan approvals vs rejections? </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How does credit score affect loan approval?</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Does income influence loan approval decisions?</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How does current debt impact loan approval?</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How do past defaults affect loan approval decisions?</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Is there any relationship between savings assets and loan approval?</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How does the debt-to-income ratio affect loan approval decisions?</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Which factors have the strongest impact on loan approval decisions?</a:t>
            </a:r>
          </a:p>
          <a:p>
            <a:pPr lvl="1">
              <a:lnSpc>
                <a:spcPct val="150000"/>
              </a:lnSpc>
              <a:spcAft>
                <a:spcPts val="800"/>
              </a:spcAft>
            </a:pPr>
            <a:r>
              <a:rPr lang="en-US" dirty="0">
                <a:latin typeface="Times New Roman" panose="02020603050405020304" pitchFamily="18" charset="0"/>
                <a:cs typeface="Times New Roman" panose="02020603050405020304" pitchFamily="18" charset="0"/>
              </a:rPr>
              <a:t>Which loan purpose have highest approval application?</a:t>
            </a:r>
          </a:p>
          <a:p>
            <a:pPr algn="just">
              <a:spcAft>
                <a:spcPts val="800"/>
              </a:spcAft>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020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D05F-74CE-36C0-F0E1-4CE5E63D13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15C726-A736-5AFB-0564-BE7C4CE15DE3}"/>
              </a:ext>
            </a:extLst>
          </p:cNvPr>
          <p:cNvSpPr txBox="1"/>
          <p:nvPr/>
        </p:nvSpPr>
        <p:spPr>
          <a:xfrm>
            <a:off x="0" y="287096"/>
            <a:ext cx="12192000" cy="584775"/>
          </a:xfrm>
          <a:prstGeom prst="rect">
            <a:avLst/>
          </a:prstGeom>
          <a:noFill/>
        </p:spPr>
        <p:txBody>
          <a:bodyPr wrap="square" rtlCol="0">
            <a:spAutoFit/>
          </a:bodyPr>
          <a:lstStyle/>
          <a:p>
            <a:pPr algn="ctr"/>
            <a:r>
              <a:rPr lang="en-IN" sz="3200" noProof="0" dirty="0">
                <a:solidFill>
                  <a:schemeClr val="accent1">
                    <a:lumMod val="50000"/>
                  </a:schemeClr>
                </a:solidFill>
                <a:latin typeface="Times New Roman" panose="02020603050405020304" pitchFamily="18" charset="0"/>
                <a:cs typeface="Times New Roman" panose="02020603050405020304" pitchFamily="18" charset="0"/>
              </a:rPr>
              <a:t>Data Dictionary</a:t>
            </a:r>
          </a:p>
        </p:txBody>
      </p:sp>
      <p:sp>
        <p:nvSpPr>
          <p:cNvPr id="6" name="TextBox 5">
            <a:extLst>
              <a:ext uri="{FF2B5EF4-FFF2-40B4-BE49-F238E27FC236}">
                <a16:creationId xmlns:a16="http://schemas.microsoft.com/office/drawing/2014/main" id="{3451072E-0389-B73A-FF30-9C0D91ED3E95}"/>
              </a:ext>
            </a:extLst>
          </p:cNvPr>
          <p:cNvSpPr txBox="1"/>
          <p:nvPr/>
        </p:nvSpPr>
        <p:spPr>
          <a:xfrm>
            <a:off x="844062" y="1038926"/>
            <a:ext cx="10655299" cy="5447645"/>
          </a:xfrm>
          <a:prstGeom prst="rect">
            <a:avLst/>
          </a:prstGeom>
          <a:noFill/>
        </p:spPr>
        <p:txBody>
          <a:bodyPr wrap="square" rtlCol="0">
            <a:spAutoFit/>
          </a:bodyPr>
          <a:lstStyle>
            <a:defPPr>
              <a:defRPr lang="en-US"/>
            </a:defPPr>
            <a:lvl2pPr marL="742950" lvl="1" indent="-285750" algn="just">
              <a:spcAft>
                <a:spcPts val="1200"/>
              </a:spcAft>
              <a:buFont typeface="Arial" panose="020B0604020202020204" pitchFamily="34" charset="0"/>
              <a:buChar char="•"/>
              <a:defRPr/>
            </a:lvl2pPr>
          </a:lstStyle>
          <a:p>
            <a:pPr algn="just">
              <a:spcAft>
                <a:spcPts val="800"/>
              </a:spcAft>
            </a:pPr>
            <a:r>
              <a:rPr lang="en-IN" sz="2000" dirty="0">
                <a:latin typeface="Times New Roman" panose="02020603050405020304" pitchFamily="18" charset="0"/>
                <a:cs typeface="Times New Roman" panose="02020603050405020304" pitchFamily="18" charset="0"/>
              </a:rPr>
              <a:t>Customer Information</a:t>
            </a:r>
          </a:p>
          <a:p>
            <a:pPr marL="1028700" lvl="1">
              <a:spcAft>
                <a:spcPts val="800"/>
              </a:spcAft>
            </a:pPr>
            <a:r>
              <a:rPr lang="en-US" dirty="0">
                <a:latin typeface="Times New Roman" panose="02020603050405020304" pitchFamily="18" charset="0"/>
                <a:cs typeface="Times New Roman" panose="02020603050405020304" pitchFamily="18" charset="0"/>
              </a:rPr>
              <a:t>Customer ID → Unique identifier for each customer or loan application</a:t>
            </a:r>
          </a:p>
          <a:p>
            <a:pPr marL="1028700" lvl="1">
              <a:spcAft>
                <a:spcPts val="800"/>
              </a:spcAft>
            </a:pPr>
            <a:r>
              <a:rPr lang="en-US" dirty="0">
                <a:latin typeface="Times New Roman" panose="02020603050405020304" pitchFamily="18" charset="0"/>
                <a:cs typeface="Times New Roman" panose="02020603050405020304" pitchFamily="18" charset="0"/>
              </a:rPr>
              <a:t>Age → Age of the applicant </a:t>
            </a:r>
          </a:p>
          <a:p>
            <a:pPr marL="1028700" lvl="1">
              <a:spcAft>
                <a:spcPts val="800"/>
              </a:spcAft>
            </a:pPr>
            <a:r>
              <a:rPr lang="en-US" dirty="0">
                <a:latin typeface="Times New Roman" panose="02020603050405020304" pitchFamily="18" charset="0"/>
                <a:cs typeface="Times New Roman" panose="02020603050405020304" pitchFamily="18" charset="0"/>
              </a:rPr>
              <a:t>Occupation Status → Employment type of the customer (Employed, Self-employed, Student)</a:t>
            </a:r>
          </a:p>
          <a:p>
            <a:pPr marL="1028700" lvl="1">
              <a:spcAft>
                <a:spcPts val="2400"/>
              </a:spcAft>
            </a:pPr>
            <a:r>
              <a:rPr lang="en-US" dirty="0">
                <a:latin typeface="Times New Roman" panose="02020603050405020304" pitchFamily="18" charset="0"/>
                <a:cs typeface="Times New Roman" panose="02020603050405020304" pitchFamily="18" charset="0"/>
              </a:rPr>
              <a:t>Years Employed → Work experience in years </a:t>
            </a:r>
          </a:p>
          <a:p>
            <a:pPr algn="just">
              <a:spcAft>
                <a:spcPts val="800"/>
              </a:spcAft>
            </a:pPr>
            <a:r>
              <a:rPr lang="en-IN" sz="2000" dirty="0">
                <a:latin typeface="Times New Roman" panose="02020603050405020304" pitchFamily="18" charset="0"/>
                <a:cs typeface="Times New Roman" panose="02020603050405020304" pitchFamily="18" charset="0"/>
              </a:rPr>
              <a:t>Financial Information</a:t>
            </a:r>
          </a:p>
          <a:p>
            <a:pPr marL="1028700" lvl="1"/>
            <a:r>
              <a:rPr lang="en-US" dirty="0">
                <a:latin typeface="Times New Roman" panose="02020603050405020304" pitchFamily="18" charset="0"/>
                <a:cs typeface="Times New Roman" panose="02020603050405020304" pitchFamily="18" charset="0"/>
              </a:rPr>
              <a:t>Annual Income → Total yearly income of the customer </a:t>
            </a:r>
          </a:p>
          <a:p>
            <a:pPr marL="1028700" lvl="1"/>
            <a:r>
              <a:rPr lang="en-US" dirty="0">
                <a:latin typeface="Times New Roman" panose="02020603050405020304" pitchFamily="18" charset="0"/>
                <a:cs typeface="Times New Roman" panose="02020603050405020304" pitchFamily="18" charset="0"/>
              </a:rPr>
              <a:t>Credit Score → Creditworthiness of the customer</a:t>
            </a:r>
          </a:p>
          <a:p>
            <a:pPr marL="1028700" lvl="1"/>
            <a:r>
              <a:rPr lang="en-US" dirty="0">
                <a:latin typeface="Times New Roman" panose="02020603050405020304" pitchFamily="18" charset="0"/>
                <a:cs typeface="Times New Roman" panose="02020603050405020304" pitchFamily="18" charset="0"/>
              </a:rPr>
              <a:t>Credit History Years → Number of years the customer has been using credit </a:t>
            </a:r>
          </a:p>
          <a:p>
            <a:pPr marL="1028700" lvl="1"/>
            <a:r>
              <a:rPr lang="en-US" dirty="0">
                <a:latin typeface="Times New Roman" panose="02020603050405020304" pitchFamily="18" charset="0"/>
                <a:cs typeface="Times New Roman" panose="02020603050405020304" pitchFamily="18" charset="0"/>
              </a:rPr>
              <a:t>Savings Assets → Savings or assets owned by the customer </a:t>
            </a:r>
          </a:p>
          <a:p>
            <a:pPr marL="1028700" lvl="1"/>
            <a:r>
              <a:rPr lang="en-US" dirty="0">
                <a:latin typeface="Times New Roman" panose="02020603050405020304" pitchFamily="18" charset="0"/>
                <a:cs typeface="Times New Roman" panose="02020603050405020304" pitchFamily="18" charset="0"/>
              </a:rPr>
              <a:t>Current Debt → Existing debt of the customer </a:t>
            </a:r>
          </a:p>
          <a:p>
            <a:pPr marL="1028700" lvl="1">
              <a:spcAft>
                <a:spcPts val="800"/>
              </a:spcAft>
            </a:pPr>
            <a:endParaRPr lang="en-US" dirty="0">
              <a:latin typeface="Times New Roman" panose="02020603050405020304" pitchFamily="18" charset="0"/>
              <a:cs typeface="Times New Roman" panose="02020603050405020304" pitchFamily="18" charset="0"/>
            </a:endParaRPr>
          </a:p>
          <a:p>
            <a:pPr lvl="1" indent="0">
              <a:spcAft>
                <a:spcPts val="800"/>
              </a:spcAf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508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4DC3DA-2459-9E1B-C341-8181DED71402}"/>
              </a:ext>
            </a:extLst>
          </p:cNvPr>
          <p:cNvSpPr txBox="1"/>
          <p:nvPr/>
        </p:nvSpPr>
        <p:spPr>
          <a:xfrm>
            <a:off x="844063" y="238834"/>
            <a:ext cx="10620130" cy="6340197"/>
          </a:xfrm>
          <a:prstGeom prst="rect">
            <a:avLst/>
          </a:prstGeom>
          <a:noFill/>
        </p:spPr>
        <p:txBody>
          <a:bodyPr wrap="square" rtlCol="0">
            <a:spAutoFit/>
          </a:bodyPr>
          <a:lstStyle>
            <a:defPPr>
              <a:defRPr lang="en-US"/>
            </a:defPPr>
            <a:lvl2pPr marL="742950" lvl="1" indent="-285750" algn="just">
              <a:spcAft>
                <a:spcPts val="1200"/>
              </a:spcAft>
              <a:buFont typeface="Arial" panose="020B0604020202020204" pitchFamily="34" charset="0"/>
              <a:buChar char="•"/>
              <a:defRPr/>
            </a:lvl2pPr>
          </a:lstStyle>
          <a:p>
            <a:r>
              <a:rPr lang="en-IN" sz="2000" noProof="0" dirty="0">
                <a:latin typeface="Times New Roman" panose="02020603050405020304" pitchFamily="18" charset="0"/>
                <a:cs typeface="Times New Roman" panose="02020603050405020304" pitchFamily="18" charset="0"/>
              </a:rPr>
              <a:t>Credit Behaviour</a:t>
            </a:r>
          </a:p>
          <a:p>
            <a:pPr marL="1085850" lvl="1" indent="-342900"/>
            <a:r>
              <a:rPr lang="en-IN" noProof="0" dirty="0">
                <a:latin typeface="Times New Roman" panose="02020603050405020304" pitchFamily="18" charset="0"/>
                <a:cs typeface="Times New Roman" panose="02020603050405020304" pitchFamily="18" charset="0"/>
              </a:rPr>
              <a:t>Defaults on File → Whether the customer has past defaults (Yes, No)</a:t>
            </a:r>
          </a:p>
          <a:p>
            <a:pPr marL="1085850" lvl="1" indent="-342900"/>
            <a:r>
              <a:rPr lang="en-IN" noProof="0" dirty="0">
                <a:latin typeface="Times New Roman" panose="02020603050405020304" pitchFamily="18" charset="0"/>
                <a:cs typeface="Times New Roman" panose="02020603050405020304" pitchFamily="18" charset="0"/>
              </a:rPr>
              <a:t>Delinquencies (Last 2 Years) → Number of late payments </a:t>
            </a:r>
          </a:p>
          <a:p>
            <a:pPr marL="1085850" lvl="1" indent="-342900">
              <a:spcAft>
                <a:spcPts val="2400"/>
              </a:spcAft>
            </a:pPr>
            <a:r>
              <a:rPr lang="en-IN" noProof="0" dirty="0">
                <a:latin typeface="Times New Roman" panose="02020603050405020304" pitchFamily="18" charset="0"/>
                <a:cs typeface="Times New Roman" panose="02020603050405020304" pitchFamily="18" charset="0"/>
              </a:rPr>
              <a:t>Derogatory Marks → Negative credit records</a:t>
            </a:r>
          </a:p>
          <a:p>
            <a:r>
              <a:rPr lang="en-IN" sz="2000" noProof="0" dirty="0">
                <a:latin typeface="Times New Roman" panose="02020603050405020304" pitchFamily="18" charset="0"/>
                <a:cs typeface="Times New Roman" panose="02020603050405020304" pitchFamily="18" charset="0"/>
              </a:rPr>
              <a:t>Loan Details</a:t>
            </a:r>
          </a:p>
          <a:p>
            <a:pPr marL="1028700" lvl="1"/>
            <a:r>
              <a:rPr lang="en-IN" noProof="0" dirty="0">
                <a:latin typeface="Times New Roman" panose="02020603050405020304" pitchFamily="18" charset="0"/>
                <a:cs typeface="Times New Roman" panose="02020603050405020304" pitchFamily="18" charset="0"/>
              </a:rPr>
              <a:t>Loan Amount → Amount requested by the customer </a:t>
            </a:r>
          </a:p>
          <a:p>
            <a:pPr marL="1028700" lvl="1"/>
            <a:r>
              <a:rPr lang="en-IN" noProof="0" dirty="0">
                <a:latin typeface="Times New Roman" panose="02020603050405020304" pitchFamily="18" charset="0"/>
                <a:cs typeface="Times New Roman" panose="02020603050405020304" pitchFamily="18" charset="0"/>
              </a:rPr>
              <a:t>Interest Rate → Interest applied on loan </a:t>
            </a:r>
          </a:p>
          <a:p>
            <a:pPr marL="1028700" lvl="1"/>
            <a:r>
              <a:rPr lang="en-IN" noProof="0" dirty="0">
                <a:latin typeface="Times New Roman" panose="02020603050405020304" pitchFamily="18" charset="0"/>
                <a:cs typeface="Times New Roman" panose="02020603050405020304" pitchFamily="18" charset="0"/>
              </a:rPr>
              <a:t>Loan Intent → Purpose of the loan (Personal, Medical, Education, Business, etc)</a:t>
            </a:r>
          </a:p>
          <a:p>
            <a:pPr marL="1028700" lvl="1"/>
            <a:r>
              <a:rPr lang="en-US" dirty="0">
                <a:latin typeface="Times New Roman" panose="02020603050405020304" pitchFamily="18" charset="0"/>
                <a:cs typeface="Times New Roman" panose="02020603050405020304" pitchFamily="18" charset="0"/>
              </a:rPr>
              <a:t>Loan Status → Final decision of the loan application (Approved or Rejected)</a:t>
            </a:r>
            <a:endParaRPr lang="en-IN" noProof="0" dirty="0">
              <a:latin typeface="Times New Roman" panose="02020603050405020304" pitchFamily="18" charset="0"/>
              <a:cs typeface="Times New Roman" panose="02020603050405020304" pitchFamily="18" charset="0"/>
            </a:endParaRPr>
          </a:p>
          <a:p>
            <a:pPr marL="1028700" lvl="1">
              <a:spcAft>
                <a:spcPts val="2400"/>
              </a:spcAft>
            </a:pPr>
            <a:r>
              <a:rPr lang="en-IN" noProof="0" dirty="0">
                <a:latin typeface="Times New Roman" panose="02020603050405020304" pitchFamily="18" charset="0"/>
                <a:cs typeface="Times New Roman" panose="02020603050405020304" pitchFamily="18" charset="0"/>
              </a:rPr>
              <a:t>Product Type → Type of loan (Credit Card, Personal Loan, </a:t>
            </a:r>
            <a:r>
              <a:rPr lang="en-IN" dirty="0">
                <a:latin typeface="Times New Roman" panose="02020603050405020304" pitchFamily="18" charset="0"/>
                <a:cs typeface="Times New Roman" panose="02020603050405020304" pitchFamily="18" charset="0"/>
              </a:rPr>
              <a:t>Line of Credit</a:t>
            </a:r>
            <a:r>
              <a:rPr lang="en-IN" noProof="0" dirty="0">
                <a:latin typeface="Times New Roman" panose="02020603050405020304" pitchFamily="18" charset="0"/>
                <a:cs typeface="Times New Roman" panose="02020603050405020304" pitchFamily="18" charset="0"/>
              </a:rPr>
              <a:t>)</a:t>
            </a:r>
          </a:p>
          <a:p>
            <a:r>
              <a:rPr lang="en-IN" sz="2000" noProof="0" dirty="0">
                <a:latin typeface="Times New Roman" panose="02020603050405020304" pitchFamily="18" charset="0"/>
                <a:cs typeface="Times New Roman" panose="02020603050405020304" pitchFamily="18" charset="0"/>
              </a:rPr>
              <a:t>Financial Ratios</a:t>
            </a:r>
            <a:r>
              <a:rPr lang="en-IN" noProof="0" dirty="0">
                <a:latin typeface="Times New Roman" panose="02020603050405020304" pitchFamily="18" charset="0"/>
                <a:cs typeface="Times New Roman" panose="02020603050405020304" pitchFamily="18" charset="0"/>
              </a:rPr>
              <a:t> </a:t>
            </a:r>
          </a:p>
          <a:p>
            <a:pPr marL="1028700" lvl="1"/>
            <a:r>
              <a:rPr lang="en-IN" noProof="0" dirty="0">
                <a:latin typeface="Times New Roman" panose="02020603050405020304" pitchFamily="18" charset="0"/>
                <a:cs typeface="Times New Roman" panose="02020603050405020304" pitchFamily="18" charset="0"/>
              </a:rPr>
              <a:t>Debt-to-Income Ratio (DTI) → Debt compared to income </a:t>
            </a:r>
          </a:p>
          <a:p>
            <a:pPr marL="1028700" lvl="1"/>
            <a:r>
              <a:rPr lang="en-IN" noProof="0" dirty="0">
                <a:latin typeface="Times New Roman" panose="02020603050405020304" pitchFamily="18" charset="0"/>
                <a:cs typeface="Times New Roman" panose="02020603050405020304" pitchFamily="18" charset="0"/>
              </a:rPr>
              <a:t>Loan-to-Income Ratio → Loan amount vs income </a:t>
            </a:r>
          </a:p>
          <a:p>
            <a:pPr marL="1028700" lvl="1"/>
            <a:r>
              <a:rPr lang="en-IN" noProof="0" dirty="0">
                <a:latin typeface="Times New Roman" panose="02020603050405020304" pitchFamily="18" charset="0"/>
                <a:cs typeface="Times New Roman" panose="02020603050405020304" pitchFamily="18" charset="0"/>
              </a:rPr>
              <a:t>Payment-to-Income Ratio → Monthly payment vs income</a:t>
            </a:r>
          </a:p>
          <a:p>
            <a:pPr lvl="1" indent="0">
              <a:spcAft>
                <a:spcPts val="800"/>
              </a:spcAft>
              <a:buNone/>
            </a:pPr>
            <a:endParaRPr lang="en-IN" noProof="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394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515D-F418-4F67-E93E-B2FF1FC719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E6A1FD-2F20-CFA1-8704-0F947B42050A}"/>
              </a:ext>
            </a:extLst>
          </p:cNvPr>
          <p:cNvSpPr txBox="1"/>
          <p:nvPr/>
        </p:nvSpPr>
        <p:spPr>
          <a:xfrm>
            <a:off x="0" y="278304"/>
            <a:ext cx="12192000" cy="584775"/>
          </a:xfrm>
          <a:prstGeom prst="rect">
            <a:avLst/>
          </a:prstGeom>
          <a:noFill/>
        </p:spPr>
        <p:txBody>
          <a:bodyPr wrap="square" rtlCol="0">
            <a:spAutoFit/>
          </a:bodyPr>
          <a:lstStyle/>
          <a:p>
            <a:pPr algn="ctr"/>
            <a:r>
              <a:rPr lang="en-IN" sz="3200" noProof="1">
                <a:solidFill>
                  <a:schemeClr val="accent1">
                    <a:lumMod val="50000"/>
                  </a:schemeClr>
                </a:solidFill>
                <a:latin typeface="Times New Roman" panose="02020603050405020304" pitchFamily="18" charset="0"/>
                <a:cs typeface="Times New Roman" panose="02020603050405020304" pitchFamily="18" charset="0"/>
              </a:rPr>
              <a:t>Solution Design And Methodology</a:t>
            </a:r>
          </a:p>
        </p:txBody>
      </p:sp>
      <p:sp>
        <p:nvSpPr>
          <p:cNvPr id="2" name="Rectangle 1">
            <a:extLst>
              <a:ext uri="{FF2B5EF4-FFF2-40B4-BE49-F238E27FC236}">
                <a16:creationId xmlns:a16="http://schemas.microsoft.com/office/drawing/2014/main" id="{2ABFF90E-BD24-6C0A-271F-19A51FC26349}"/>
              </a:ext>
            </a:extLst>
          </p:cNvPr>
          <p:cNvSpPr/>
          <p:nvPr/>
        </p:nvSpPr>
        <p:spPr>
          <a:xfrm>
            <a:off x="665285" y="1509225"/>
            <a:ext cx="2366109" cy="1559286"/>
          </a:xfrm>
          <a:prstGeom prst="rect">
            <a:avLst/>
          </a:prstGeom>
          <a:solidFill>
            <a:schemeClr val="accent1">
              <a:lumMod val="40000"/>
              <a:lumOff val="6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t"/>
          <a:lstStyle/>
          <a:p>
            <a:pPr algn="ctr"/>
            <a:r>
              <a:rPr lang="en-IN" noProof="1">
                <a:solidFill>
                  <a:schemeClr val="tx1"/>
                </a:solidFill>
                <a:latin typeface="Times New Roman" panose="02020603050405020304" pitchFamily="18" charset="0"/>
                <a:cs typeface="Times New Roman" panose="02020603050405020304" pitchFamily="18" charset="0"/>
              </a:rPr>
              <a:t>Data Collection</a:t>
            </a:r>
          </a:p>
          <a:p>
            <a:pPr marL="285750" indent="-285750">
              <a:lnSpc>
                <a:spcPct val="150000"/>
              </a:lnSpc>
              <a:buFont typeface="Wingdings" panose="05000000000000000000" pitchFamily="2" charset="2"/>
              <a:buChar char="Ø"/>
            </a:pPr>
            <a:r>
              <a:rPr lang="en-IN" sz="1400" noProof="1">
                <a:solidFill>
                  <a:schemeClr val="tx1"/>
                </a:solidFill>
                <a:latin typeface="Times New Roman" panose="02020603050405020304" pitchFamily="18" charset="0"/>
                <a:cs typeface="Times New Roman" panose="02020603050405020304" pitchFamily="18" charset="0"/>
              </a:rPr>
              <a:t>Import dataset</a:t>
            </a:r>
          </a:p>
          <a:p>
            <a:pPr marL="285750" indent="-285750">
              <a:lnSpc>
                <a:spcPct val="150000"/>
              </a:lnSpc>
              <a:buFont typeface="Wingdings" panose="05000000000000000000" pitchFamily="2" charset="2"/>
              <a:buChar char="Ø"/>
            </a:pPr>
            <a:r>
              <a:rPr lang="en-IN" sz="1400" noProof="1">
                <a:solidFill>
                  <a:schemeClr val="tx1"/>
                </a:solidFill>
                <a:latin typeface="Times New Roman" panose="02020603050405020304" pitchFamily="18" charset="0"/>
                <a:cs typeface="Times New Roman" panose="02020603050405020304" pitchFamily="18" charset="0"/>
              </a:rPr>
              <a:t>Check Structure</a:t>
            </a:r>
          </a:p>
          <a:p>
            <a:pPr algn="ctr"/>
            <a:endParaRPr lang="en-IN" noProof="1">
              <a:solidFill>
                <a:schemeClr val="tx1"/>
              </a:solidFill>
            </a:endParaRPr>
          </a:p>
        </p:txBody>
      </p:sp>
      <p:sp>
        <p:nvSpPr>
          <p:cNvPr id="8" name="Rectangle 7">
            <a:extLst>
              <a:ext uri="{FF2B5EF4-FFF2-40B4-BE49-F238E27FC236}">
                <a16:creationId xmlns:a16="http://schemas.microsoft.com/office/drawing/2014/main" id="{7F5B467B-5B0C-E13E-BC5F-493B2A119F8E}"/>
              </a:ext>
            </a:extLst>
          </p:cNvPr>
          <p:cNvSpPr/>
          <p:nvPr/>
        </p:nvSpPr>
        <p:spPr>
          <a:xfrm>
            <a:off x="3513016" y="1509231"/>
            <a:ext cx="2366109" cy="1559286"/>
          </a:xfrm>
          <a:prstGeom prst="rect">
            <a:avLst/>
          </a:prstGeom>
          <a:solidFill>
            <a:schemeClr val="accent1">
              <a:lumMod val="40000"/>
              <a:lumOff val="6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t"/>
          <a:lstStyle/>
          <a:p>
            <a:pPr algn="ctr"/>
            <a:r>
              <a:rPr lang="en-IN" noProof="1">
                <a:latin typeface="Times New Roman" panose="02020603050405020304" pitchFamily="18" charset="0"/>
                <a:cs typeface="Times New Roman" panose="02020603050405020304" pitchFamily="18" charset="0"/>
              </a:rPr>
              <a:t>Data cleaning</a:t>
            </a:r>
          </a:p>
          <a:p>
            <a:pPr marL="285750" indent="-285750">
              <a:lnSpc>
                <a:spcPct val="150000"/>
              </a:lnSpc>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Handle missing data</a:t>
            </a:r>
          </a:p>
          <a:p>
            <a:pPr marL="285750" indent="-285750">
              <a:lnSpc>
                <a:spcPct val="150000"/>
              </a:lnSpc>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Fix data formats</a:t>
            </a:r>
          </a:p>
          <a:p>
            <a:pPr marL="285750" indent="-285750">
              <a:buFont typeface="Wingdings" panose="05000000000000000000" pitchFamily="2" charset="2"/>
              <a:buChar char="Ø"/>
            </a:pPr>
            <a:endParaRPr lang="en-IN" sz="1600" noProof="1">
              <a:latin typeface="Times New Roman" panose="02020603050405020304" pitchFamily="18" charset="0"/>
              <a:cs typeface="Times New Roman" panose="02020603050405020304" pitchFamily="18" charset="0"/>
            </a:endParaRPr>
          </a:p>
          <a:p>
            <a:pPr algn="ctr"/>
            <a:endParaRPr lang="en-IN" noProof="1"/>
          </a:p>
        </p:txBody>
      </p:sp>
      <p:sp>
        <p:nvSpPr>
          <p:cNvPr id="9" name="Rectangle 8">
            <a:extLst>
              <a:ext uri="{FF2B5EF4-FFF2-40B4-BE49-F238E27FC236}">
                <a16:creationId xmlns:a16="http://schemas.microsoft.com/office/drawing/2014/main" id="{D7BEB281-2E01-35CC-47C7-05D58E27CA2B}"/>
              </a:ext>
            </a:extLst>
          </p:cNvPr>
          <p:cNvSpPr/>
          <p:nvPr/>
        </p:nvSpPr>
        <p:spPr>
          <a:xfrm>
            <a:off x="6371489" y="1509230"/>
            <a:ext cx="2366109" cy="1559287"/>
          </a:xfrm>
          <a:prstGeom prst="rect">
            <a:avLst/>
          </a:prstGeom>
          <a:solidFill>
            <a:schemeClr val="accent1">
              <a:lumMod val="40000"/>
              <a:lumOff val="6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t"/>
          <a:lstStyle/>
          <a:p>
            <a:pPr algn="ctr">
              <a:spcAft>
                <a:spcPts val="600"/>
              </a:spcAft>
            </a:pPr>
            <a:r>
              <a:rPr lang="en-IN" noProof="1">
                <a:latin typeface="Times New Roman" panose="02020603050405020304" pitchFamily="18" charset="0"/>
                <a:cs typeface="Times New Roman" panose="02020603050405020304" pitchFamily="18" charset="0"/>
              </a:rPr>
              <a:t>Exploratory Analysis</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Perform EDA using Power BI</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Univariate analysis </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Bivariate analysis</a:t>
            </a:r>
          </a:p>
          <a:p>
            <a:pPr algn="ctr">
              <a:spcAft>
                <a:spcPts val="600"/>
              </a:spcAft>
            </a:pPr>
            <a:endParaRPr lang="en-IN" noProof="1"/>
          </a:p>
        </p:txBody>
      </p:sp>
      <p:sp>
        <p:nvSpPr>
          <p:cNvPr id="10" name="Rectangle 9">
            <a:extLst>
              <a:ext uri="{FF2B5EF4-FFF2-40B4-BE49-F238E27FC236}">
                <a16:creationId xmlns:a16="http://schemas.microsoft.com/office/drawing/2014/main" id="{115F47A3-623C-24B2-5B31-AE3EE0A54012}"/>
              </a:ext>
            </a:extLst>
          </p:cNvPr>
          <p:cNvSpPr/>
          <p:nvPr/>
        </p:nvSpPr>
        <p:spPr>
          <a:xfrm>
            <a:off x="9229962" y="1509229"/>
            <a:ext cx="2366109" cy="1559288"/>
          </a:xfrm>
          <a:prstGeom prst="rect">
            <a:avLst/>
          </a:prstGeom>
          <a:solidFill>
            <a:schemeClr val="accent1">
              <a:lumMod val="40000"/>
              <a:lumOff val="6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t"/>
          <a:lstStyle/>
          <a:p>
            <a:pPr algn="ctr">
              <a:spcAft>
                <a:spcPts val="600"/>
              </a:spcAft>
            </a:pPr>
            <a:r>
              <a:rPr lang="en-IN" noProof="1">
                <a:latin typeface="Times New Roman" panose="02020603050405020304" pitchFamily="18" charset="0"/>
                <a:cs typeface="Times New Roman" panose="02020603050405020304" pitchFamily="18" charset="0"/>
              </a:rPr>
              <a:t>Feature Assessment</a:t>
            </a:r>
          </a:p>
          <a:p>
            <a:pPr marL="285750" indent="-285750">
              <a:spcAft>
                <a:spcPts val="2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Identify important features</a:t>
            </a:r>
          </a:p>
          <a:p>
            <a:pPr marL="285750" indent="-285750">
              <a:spcAft>
                <a:spcPts val="2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Analyze correlations using heatmap</a:t>
            </a:r>
          </a:p>
        </p:txBody>
      </p:sp>
      <p:sp>
        <p:nvSpPr>
          <p:cNvPr id="12" name="Rectangle 11">
            <a:extLst>
              <a:ext uri="{FF2B5EF4-FFF2-40B4-BE49-F238E27FC236}">
                <a16:creationId xmlns:a16="http://schemas.microsoft.com/office/drawing/2014/main" id="{2A15D39A-5CB7-CB27-0290-96EC86F2F8D9}"/>
              </a:ext>
            </a:extLst>
          </p:cNvPr>
          <p:cNvSpPr/>
          <p:nvPr/>
        </p:nvSpPr>
        <p:spPr>
          <a:xfrm>
            <a:off x="4798200" y="3960616"/>
            <a:ext cx="2595600" cy="1842588"/>
          </a:xfrm>
          <a:prstGeom prst="rect">
            <a:avLst/>
          </a:prstGeom>
          <a:solidFill>
            <a:schemeClr val="accent1">
              <a:lumMod val="40000"/>
              <a:lumOff val="6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t"/>
          <a:lstStyle/>
          <a:p>
            <a:pPr algn="ctr"/>
            <a:r>
              <a:rPr lang="en-IN" noProof="1">
                <a:latin typeface="Times New Roman" panose="02020603050405020304" pitchFamily="18" charset="0"/>
                <a:cs typeface="Times New Roman" panose="02020603050405020304" pitchFamily="18" charset="0"/>
              </a:rPr>
              <a:t>Recommendations</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Improve loan approval decisions</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Reduce risk by identifying high-risk customers</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Apply data-driven decision-making</a:t>
            </a:r>
          </a:p>
          <a:p>
            <a:pPr algn="ctr"/>
            <a:endParaRPr lang="en-IN" noProof="1">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C2586421-FC1E-14FE-43B1-342D6FA7E69E}"/>
              </a:ext>
            </a:extLst>
          </p:cNvPr>
          <p:cNvSpPr/>
          <p:nvPr/>
        </p:nvSpPr>
        <p:spPr>
          <a:xfrm>
            <a:off x="1670643" y="3960616"/>
            <a:ext cx="2593730" cy="1842588"/>
          </a:xfrm>
          <a:prstGeom prst="rect">
            <a:avLst/>
          </a:prstGeom>
          <a:solidFill>
            <a:schemeClr val="accent1">
              <a:lumMod val="40000"/>
              <a:lumOff val="6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t"/>
          <a:lstStyle/>
          <a:p>
            <a:pPr algn="ctr">
              <a:spcAft>
                <a:spcPts val="600"/>
              </a:spcAft>
            </a:pPr>
            <a:r>
              <a:rPr lang="en-IN" noProof="1">
                <a:latin typeface="Times New Roman" panose="02020603050405020304" pitchFamily="18" charset="0"/>
                <a:cs typeface="Times New Roman" panose="02020603050405020304" pitchFamily="18" charset="0"/>
              </a:rPr>
              <a:t>Model Development</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Train models on processed dataset</a:t>
            </a:r>
          </a:p>
          <a:p>
            <a:pPr marL="285750" indent="-285750">
              <a:spcAft>
                <a:spcPts val="600"/>
              </a:spcAft>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Evaluated using performance metrics</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Selected best performing model</a:t>
            </a:r>
          </a:p>
          <a:p>
            <a:pPr algn="ctr"/>
            <a:endParaRPr lang="en-IN" noProof="1"/>
          </a:p>
        </p:txBody>
      </p:sp>
      <p:sp>
        <p:nvSpPr>
          <p:cNvPr id="11" name="Rectangle 10">
            <a:extLst>
              <a:ext uri="{FF2B5EF4-FFF2-40B4-BE49-F238E27FC236}">
                <a16:creationId xmlns:a16="http://schemas.microsoft.com/office/drawing/2014/main" id="{2EB86B85-ED1A-3896-6FAE-633B5441B266}"/>
              </a:ext>
            </a:extLst>
          </p:cNvPr>
          <p:cNvSpPr/>
          <p:nvPr/>
        </p:nvSpPr>
        <p:spPr>
          <a:xfrm>
            <a:off x="7927627" y="3960310"/>
            <a:ext cx="2595600" cy="1843200"/>
          </a:xfrm>
          <a:prstGeom prst="rect">
            <a:avLst/>
          </a:prstGeom>
          <a:solidFill>
            <a:schemeClr val="accent1">
              <a:lumMod val="40000"/>
              <a:lumOff val="6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t"/>
          <a:lstStyle/>
          <a:p>
            <a:pPr algn="ctr">
              <a:spcAft>
                <a:spcPts val="600"/>
              </a:spcAft>
            </a:pPr>
            <a:r>
              <a:rPr lang="en-IN" noProof="1">
                <a:latin typeface="Times New Roman" panose="02020603050405020304" pitchFamily="18" charset="0"/>
                <a:cs typeface="Times New Roman" panose="02020603050405020304" pitchFamily="18" charset="0"/>
              </a:rPr>
              <a:t>Reporting &amp; Dashboard</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Create Power BI dashboard </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Visualize key insights </a:t>
            </a:r>
          </a:p>
          <a:p>
            <a:pPr marL="285750" indent="-285750">
              <a:spcAft>
                <a:spcPts val="600"/>
              </a:spcAft>
              <a:buFont typeface="Wingdings" panose="05000000000000000000" pitchFamily="2" charset="2"/>
              <a:buChar char="Ø"/>
            </a:pPr>
            <a:r>
              <a:rPr lang="en-IN" sz="1400" noProof="1">
                <a:latin typeface="Times New Roman" panose="02020603050405020304" pitchFamily="18" charset="0"/>
                <a:cs typeface="Times New Roman" panose="02020603050405020304" pitchFamily="18" charset="0"/>
              </a:rPr>
              <a:t>Support business decision-making </a:t>
            </a:r>
          </a:p>
          <a:p>
            <a:pPr algn="ctr"/>
            <a:endParaRPr lang="en-IN" noProof="1">
              <a:latin typeface="Times New Roman" panose="02020603050405020304" pitchFamily="18" charset="0"/>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52F0CD33-A308-C3E6-5DCD-D6EE3F2972D1}"/>
              </a:ext>
            </a:extLst>
          </p:cNvPr>
          <p:cNvCxnSpPr>
            <a:stCxn id="2" idx="3"/>
            <a:endCxn id="8" idx="1"/>
          </p:cNvCxnSpPr>
          <p:nvPr/>
        </p:nvCxnSpPr>
        <p:spPr>
          <a:xfrm>
            <a:off x="3031394" y="2288868"/>
            <a:ext cx="481622" cy="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CB4DFCD3-1AD0-991F-5F4F-122C3F2B3407}"/>
              </a:ext>
            </a:extLst>
          </p:cNvPr>
          <p:cNvCxnSpPr/>
          <p:nvPr/>
        </p:nvCxnSpPr>
        <p:spPr>
          <a:xfrm>
            <a:off x="5886744" y="2288870"/>
            <a:ext cx="481622"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DD3719C6-5449-95E6-F71B-C5563D58D425}"/>
              </a:ext>
            </a:extLst>
          </p:cNvPr>
          <p:cNvCxnSpPr/>
          <p:nvPr/>
        </p:nvCxnSpPr>
        <p:spPr>
          <a:xfrm>
            <a:off x="8737598" y="2288868"/>
            <a:ext cx="481622"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Connector: Elbow 38">
            <a:extLst>
              <a:ext uri="{FF2B5EF4-FFF2-40B4-BE49-F238E27FC236}">
                <a16:creationId xmlns:a16="http://schemas.microsoft.com/office/drawing/2014/main" id="{4D3956BA-DDAD-F2B2-4D05-D38B98B2D8A9}"/>
              </a:ext>
            </a:extLst>
          </p:cNvPr>
          <p:cNvCxnSpPr>
            <a:cxnSpLocks/>
            <a:stCxn id="10" idx="2"/>
            <a:endCxn id="13" idx="0"/>
          </p:cNvCxnSpPr>
          <p:nvPr/>
        </p:nvCxnSpPr>
        <p:spPr>
          <a:xfrm rot="5400000">
            <a:off x="6244214" y="-208188"/>
            <a:ext cx="892099" cy="7445509"/>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E918CCE9-447B-511A-6276-17BE6DD33251}"/>
              </a:ext>
            </a:extLst>
          </p:cNvPr>
          <p:cNvCxnSpPr>
            <a:cxnSpLocks/>
            <a:endCxn id="12" idx="1"/>
          </p:cNvCxnSpPr>
          <p:nvPr/>
        </p:nvCxnSpPr>
        <p:spPr>
          <a:xfrm>
            <a:off x="4269520" y="4881905"/>
            <a:ext cx="528680" cy="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4" name="Straight Arrow Connector 43">
            <a:extLst>
              <a:ext uri="{FF2B5EF4-FFF2-40B4-BE49-F238E27FC236}">
                <a16:creationId xmlns:a16="http://schemas.microsoft.com/office/drawing/2014/main" id="{6DCC9C5F-4C55-8A9B-176C-C63768762C06}"/>
              </a:ext>
            </a:extLst>
          </p:cNvPr>
          <p:cNvCxnSpPr>
            <a:cxnSpLocks/>
            <a:endCxn id="11" idx="1"/>
          </p:cNvCxnSpPr>
          <p:nvPr/>
        </p:nvCxnSpPr>
        <p:spPr>
          <a:xfrm>
            <a:off x="7405245" y="4881903"/>
            <a:ext cx="522382" cy="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0172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F6635-E580-1902-6548-2912096068B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E58940-96DF-C8AA-2958-1AF2EF5423B9}"/>
              </a:ext>
            </a:extLst>
          </p:cNvPr>
          <p:cNvSpPr txBox="1"/>
          <p:nvPr/>
        </p:nvSpPr>
        <p:spPr>
          <a:xfrm>
            <a:off x="0" y="278304"/>
            <a:ext cx="12192000" cy="584775"/>
          </a:xfrm>
          <a:prstGeom prst="rect">
            <a:avLst/>
          </a:prstGeom>
          <a:noFill/>
        </p:spPr>
        <p:txBody>
          <a:bodyPr wrap="square" rtlCol="0">
            <a:spAutoFit/>
          </a:bodyPr>
          <a:lstStyle/>
          <a:p>
            <a:pPr algn="ctr"/>
            <a:r>
              <a:rPr lang="en-US" sz="3200" dirty="0">
                <a:solidFill>
                  <a:schemeClr val="accent1">
                    <a:lumMod val="50000"/>
                  </a:schemeClr>
                </a:solidFill>
                <a:latin typeface="Times New Roman" panose="02020603050405020304" pitchFamily="18" charset="0"/>
                <a:cs typeface="Times New Roman" panose="02020603050405020304" pitchFamily="18" charset="0"/>
              </a:rPr>
              <a:t>Data Preprocessing</a:t>
            </a:r>
          </a:p>
        </p:txBody>
      </p:sp>
      <p:sp>
        <p:nvSpPr>
          <p:cNvPr id="2" name="TextBox 1">
            <a:extLst>
              <a:ext uri="{FF2B5EF4-FFF2-40B4-BE49-F238E27FC236}">
                <a16:creationId xmlns:a16="http://schemas.microsoft.com/office/drawing/2014/main" id="{E4DB03D7-E8FB-988D-57A0-7CAD17DDB3B3}"/>
              </a:ext>
            </a:extLst>
          </p:cNvPr>
          <p:cNvSpPr txBox="1"/>
          <p:nvPr/>
        </p:nvSpPr>
        <p:spPr>
          <a:xfrm>
            <a:off x="720969" y="1063872"/>
            <a:ext cx="10858500" cy="5232202"/>
          </a:xfrm>
          <a:prstGeom prst="rect">
            <a:avLst/>
          </a:prstGeom>
          <a:noFill/>
        </p:spPr>
        <p:txBody>
          <a:bodyPr wrap="square" rtlCol="0">
            <a:spAutoFit/>
          </a:bodyPr>
          <a:lstStyle/>
          <a:p>
            <a:pPr>
              <a:spcAft>
                <a:spcPts val="1200"/>
              </a:spcAft>
            </a:pPr>
            <a:r>
              <a:rPr lang="en-US" dirty="0">
                <a:latin typeface="Times New Roman" panose="02020603050405020304" pitchFamily="18" charset="0"/>
                <a:cs typeface="Times New Roman" panose="02020603050405020304" pitchFamily="18" charset="0"/>
              </a:rPr>
              <a:t>Before building the model, the dataset was prepared carefully.</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Checked for duplicate records to ensure data quality</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dataset structure and corrected column names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Handled missing values by checking columns and treating them appropriately</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Converted all attributes into appropriate data types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Converted binary categorical feature </a:t>
            </a:r>
            <a:r>
              <a:rPr lang="en-US" dirty="0" err="1">
                <a:latin typeface="Times New Roman" panose="02020603050405020304" pitchFamily="18" charset="0"/>
                <a:cs typeface="Times New Roman" panose="02020603050405020304" pitchFamily="18" charset="0"/>
              </a:rPr>
              <a:t>default_on_file</a:t>
            </a:r>
            <a:r>
              <a:rPr lang="en-US" dirty="0">
                <a:latin typeface="Times New Roman" panose="02020603050405020304" pitchFamily="18" charset="0"/>
                <a:cs typeface="Times New Roman" panose="02020603050405020304" pitchFamily="18" charset="0"/>
              </a:rPr>
              <a:t> into 0 and 1</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Applied one-hot encoding to categorical features such as </a:t>
            </a:r>
            <a:r>
              <a:rPr lang="en-US" dirty="0" err="1">
                <a:latin typeface="Times New Roman" panose="02020603050405020304" pitchFamily="18" charset="0"/>
                <a:cs typeface="Times New Roman" panose="02020603050405020304" pitchFamily="18" charset="0"/>
              </a:rPr>
              <a:t>occupation_status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product_type</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loan_intent</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Separated independent variables (features) and dependent variable (</a:t>
            </a:r>
            <a:r>
              <a:rPr lang="en-US" dirty="0" err="1">
                <a:latin typeface="Times New Roman" panose="02020603050405020304" pitchFamily="18" charset="0"/>
                <a:cs typeface="Times New Roman" panose="02020603050405020304" pitchFamily="18" charset="0"/>
              </a:rPr>
              <a:t>loan_status</a:t>
            </a:r>
            <a:r>
              <a:rPr lang="en-US" dirty="0">
                <a:latin typeface="Times New Roman" panose="02020603050405020304" pitchFamily="18" charset="0"/>
                <a:cs typeface="Times New Roman" panose="02020603050405020304" pitchFamily="18" charset="0"/>
              </a:rPr>
              <a:t>)</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Split the dataset into training and testing sets using an 80:20 ratio</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Applied different classification machine learning algorithms to identify the best model</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Exported the cleaned dataset to CSV format for Power BI visualization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940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1510B-C1DF-DCA6-0B8C-5C7D0C1BCF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E08A29A-F5F0-49F2-5690-38D18380010D}"/>
              </a:ext>
            </a:extLst>
          </p:cNvPr>
          <p:cNvSpPr txBox="1"/>
          <p:nvPr/>
        </p:nvSpPr>
        <p:spPr>
          <a:xfrm>
            <a:off x="1" y="278304"/>
            <a:ext cx="12192000" cy="584775"/>
          </a:xfrm>
          <a:prstGeom prst="rect">
            <a:avLst/>
          </a:prstGeom>
          <a:noFill/>
        </p:spPr>
        <p:txBody>
          <a:bodyPr wrap="square" rtlCol="0">
            <a:spAutoFit/>
          </a:bodyPr>
          <a:lstStyle/>
          <a:p>
            <a:pPr algn="ctr"/>
            <a:r>
              <a:rPr lang="en-CA" sz="3200" dirty="0">
                <a:solidFill>
                  <a:schemeClr val="accent1">
                    <a:lumMod val="50000"/>
                  </a:schemeClr>
                </a:solidFill>
                <a:latin typeface="Times New Roman" panose="02020603050405020304" pitchFamily="18" charset="0"/>
                <a:cs typeface="Times New Roman" panose="02020603050405020304" pitchFamily="18" charset="0"/>
              </a:rPr>
              <a:t>Exploratory Data Analysis (EDA)</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45466A9-B9D9-4D36-8927-62CE3E349867}"/>
              </a:ext>
            </a:extLst>
          </p:cNvPr>
          <p:cNvSpPr txBox="1"/>
          <p:nvPr/>
        </p:nvSpPr>
        <p:spPr>
          <a:xfrm>
            <a:off x="720969" y="1028704"/>
            <a:ext cx="10858500" cy="564770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Data At Hand</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Rows: 50,000 loan applications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Columns: Multiple attributes related to customer demographics, financial details, credit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and loan information</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Target Variable: </a:t>
            </a:r>
            <a:r>
              <a:rPr lang="en-US" dirty="0" err="1">
                <a:latin typeface="Times New Roman" panose="02020603050405020304" pitchFamily="18" charset="0"/>
                <a:cs typeface="Times New Roman" panose="02020603050405020304" pitchFamily="18" charset="0"/>
              </a:rPr>
              <a:t>loan_status</a:t>
            </a:r>
            <a:r>
              <a:rPr lang="en-US" dirty="0">
                <a:latin typeface="Times New Roman" panose="02020603050405020304" pitchFamily="18" charset="0"/>
                <a:cs typeface="Times New Roman" panose="02020603050405020304" pitchFamily="18" charset="0"/>
              </a:rPr>
              <a:t> (Approved vs Rejected)</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Dataset Type: Slightly imbalanced — ~55% approved and ~45% rejected</a:t>
            </a:r>
          </a:p>
          <a:p>
            <a:pPr marL="742950" lvl="1" indent="-285750">
              <a:lnSpc>
                <a:spcPct val="150000"/>
              </a:lnSpc>
              <a:spcAft>
                <a:spcPts val="18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Dataset Nature: Synthetic dataset based on real-world banking rules</a:t>
            </a:r>
          </a:p>
          <a:p>
            <a:r>
              <a:rPr lang="en-IN" sz="2000" dirty="0">
                <a:latin typeface="Times New Roman" panose="02020603050405020304" pitchFamily="18" charset="0"/>
                <a:cs typeface="Times New Roman" panose="02020603050405020304" pitchFamily="18" charset="0"/>
              </a:rPr>
              <a:t>Notable Observations</a:t>
            </a:r>
            <a:endParaRPr lang="en-US" sz="200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Credit score and Income plays an important role in loan approval</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debt and DTI ratio are associated with rejection</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 with past defaults are mostly rejected</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Loan approval depends on multiple financial factors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669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75BA7-DFB6-BA1E-2F1B-E5AC87219956}"/>
              </a:ext>
            </a:extLst>
          </p:cNvPr>
          <p:cNvSpPr txBox="1"/>
          <p:nvPr/>
        </p:nvSpPr>
        <p:spPr>
          <a:xfrm>
            <a:off x="835269" y="1248507"/>
            <a:ext cx="6242538" cy="3524042"/>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Exploring the overall distribution of loan approvals vs rejections</a:t>
            </a:r>
          </a:p>
          <a:p>
            <a:pPr marL="285750" indent="-285750" algn="just">
              <a:lnSpc>
                <a:spcPct val="150000"/>
              </a:lnSpc>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pie chart shows the distribution of approved and rejected loan applications. Approximately </a:t>
            </a:r>
            <a:r>
              <a:rPr lang="en-US" b="1" dirty="0">
                <a:latin typeface="Times New Roman" panose="02020603050405020304" pitchFamily="18" charset="0"/>
                <a:cs typeface="Times New Roman" panose="02020603050405020304" pitchFamily="18" charset="0"/>
              </a:rPr>
              <a:t>55.05% (28K)</a:t>
            </a:r>
            <a:r>
              <a:rPr lang="en-US" dirty="0">
                <a:latin typeface="Times New Roman" panose="02020603050405020304" pitchFamily="18" charset="0"/>
                <a:cs typeface="Times New Roman" panose="02020603050405020304" pitchFamily="18" charset="0"/>
              </a:rPr>
              <a:t> were approved, while </a:t>
            </a:r>
            <a:r>
              <a:rPr lang="en-US" b="1" dirty="0">
                <a:latin typeface="Times New Roman" panose="02020603050405020304" pitchFamily="18" charset="0"/>
                <a:cs typeface="Times New Roman" panose="02020603050405020304" pitchFamily="18" charset="0"/>
              </a:rPr>
              <a:t>44.95% (22K)</a:t>
            </a:r>
            <a:r>
              <a:rPr lang="en-US" dirty="0">
                <a:latin typeface="Times New Roman" panose="02020603050405020304" pitchFamily="18" charset="0"/>
                <a:cs typeface="Times New Roman" panose="02020603050405020304" pitchFamily="18" charset="0"/>
              </a:rPr>
              <a:t> were rejected.</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that slightly more applications are approved than rejected, suggesting a moderately lenient approval trend.</a:t>
            </a:r>
          </a:p>
          <a:p>
            <a:pPr algn="just"/>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1B1A166-54BF-0232-318F-1D426CFEA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1385" y="1107832"/>
            <a:ext cx="4202722" cy="3815862"/>
          </a:xfrm>
          <a:prstGeom prst="rect">
            <a:avLst/>
          </a:prstGeom>
        </p:spPr>
      </p:pic>
    </p:spTree>
    <p:extLst>
      <p:ext uri="{BB962C8B-B14F-4D97-AF65-F5344CB8AC3E}">
        <p14:creationId xmlns:p14="http://schemas.microsoft.com/office/powerpoint/2010/main" val="3056999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BEB35-5962-EAE0-00AF-004941E439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4A7940-2896-58F3-5FDF-29AC43114271}"/>
              </a:ext>
            </a:extLst>
          </p:cNvPr>
          <p:cNvSpPr txBox="1"/>
          <p:nvPr/>
        </p:nvSpPr>
        <p:spPr>
          <a:xfrm>
            <a:off x="817684" y="685797"/>
            <a:ext cx="6013939" cy="4905445"/>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Analyzing the impact of credit score on loan approval rates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chart shows that loan approval rates increase as the credit score improves. </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Applicants with a credit score above 700 have the highest approval rates, while those below 600 have significantly lower chances of approval.</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a strong positive relationship between credit score and loan approval, meaning higher creditworthiness leads to higher approval probability.</a:t>
            </a:r>
          </a:p>
        </p:txBody>
      </p:sp>
      <p:pic>
        <p:nvPicPr>
          <p:cNvPr id="5" name="Picture 4">
            <a:extLst>
              <a:ext uri="{FF2B5EF4-FFF2-40B4-BE49-F238E27FC236}">
                <a16:creationId xmlns:a16="http://schemas.microsoft.com/office/drawing/2014/main" id="{3A3C1D54-C934-1B39-9293-8C0905628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4863" y="1107828"/>
            <a:ext cx="4669060" cy="3894993"/>
          </a:xfrm>
          <a:prstGeom prst="rect">
            <a:avLst/>
          </a:prstGeom>
        </p:spPr>
      </p:pic>
    </p:spTree>
    <p:extLst>
      <p:ext uri="{BB962C8B-B14F-4D97-AF65-F5344CB8AC3E}">
        <p14:creationId xmlns:p14="http://schemas.microsoft.com/office/powerpoint/2010/main" val="201875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1EDB-494D-F35F-E399-05C7C2571E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49D56A-0D6C-2213-318C-6A2D28678CA1}"/>
              </a:ext>
            </a:extLst>
          </p:cNvPr>
          <p:cNvSpPr txBox="1"/>
          <p:nvPr/>
        </p:nvSpPr>
        <p:spPr>
          <a:xfrm>
            <a:off x="826476" y="969738"/>
            <a:ext cx="6013939" cy="4074449"/>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Analyzing the impact of income on loan approval rates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Loan approval rates increase as income levels rise.</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Applicants earning above 200k have the highest approval rates, while those below 30k have the lowest.</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that income positively influences loan approval decisions, with higher-income applicants having a greater likelihood of approval.</a:t>
            </a:r>
          </a:p>
        </p:txBody>
      </p:sp>
      <p:pic>
        <p:nvPicPr>
          <p:cNvPr id="4" name="Picture 3">
            <a:extLst>
              <a:ext uri="{FF2B5EF4-FFF2-40B4-BE49-F238E27FC236}">
                <a16:creationId xmlns:a16="http://schemas.microsoft.com/office/drawing/2014/main" id="{988CD8B9-0B0D-BCF7-787D-893B0C8B7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0561" y="1433143"/>
            <a:ext cx="4772398" cy="3341076"/>
          </a:xfrm>
          <a:prstGeom prst="rect">
            <a:avLst/>
          </a:prstGeom>
        </p:spPr>
      </p:pic>
    </p:spTree>
    <p:extLst>
      <p:ext uri="{BB962C8B-B14F-4D97-AF65-F5344CB8AC3E}">
        <p14:creationId xmlns:p14="http://schemas.microsoft.com/office/powerpoint/2010/main" val="3913203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36922-609A-953F-AF20-A146276090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5D8083-86C6-7C19-6E5D-F14224BB5350}"/>
              </a:ext>
            </a:extLst>
          </p:cNvPr>
          <p:cNvSpPr txBox="1"/>
          <p:nvPr/>
        </p:nvSpPr>
        <p:spPr>
          <a:xfrm>
            <a:off x="589086" y="921382"/>
            <a:ext cx="6268916" cy="4074449"/>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Analyzing the impact of current debt on loan approval rates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Loan approval rates decrease as current debt increases.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Applicants with lower debt levels (less than 10k) tend to have higher approval rates, whereas those with very high debt (above 150k) experience the lowest approval rates.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this suggests a clear negative relationship between current debt and the likelihood of loan approval.</a:t>
            </a:r>
          </a:p>
        </p:txBody>
      </p:sp>
      <p:pic>
        <p:nvPicPr>
          <p:cNvPr id="5" name="Picture 4">
            <a:extLst>
              <a:ext uri="{FF2B5EF4-FFF2-40B4-BE49-F238E27FC236}">
                <a16:creationId xmlns:a16="http://schemas.microsoft.com/office/drawing/2014/main" id="{040BCADB-CF01-4301-1BC0-DA8A2B26F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8696" y="1397970"/>
            <a:ext cx="4982270" cy="3121275"/>
          </a:xfrm>
          <a:prstGeom prst="rect">
            <a:avLst/>
          </a:prstGeom>
        </p:spPr>
      </p:pic>
    </p:spTree>
    <p:extLst>
      <p:ext uri="{BB962C8B-B14F-4D97-AF65-F5344CB8AC3E}">
        <p14:creationId xmlns:p14="http://schemas.microsoft.com/office/powerpoint/2010/main" val="3071997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452D-4A15-43E6-0D90-26C134C197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AB7AAB-0597-1C31-4644-2C275C28C0AF}"/>
              </a:ext>
            </a:extLst>
          </p:cNvPr>
          <p:cNvSpPr txBox="1"/>
          <p:nvPr/>
        </p:nvSpPr>
        <p:spPr>
          <a:xfrm>
            <a:off x="633047" y="949563"/>
            <a:ext cx="6268916" cy="4074449"/>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Analyzing the impact of past defaults on loan approval decisions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Applicants with no past defaults have a significantly higher number of approved loans compared to rejected ones.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Applicants with past defaults have no approvals and a higher number of rejections.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shows that having past defaults significantly reduces the likelihood of loan approval.</a:t>
            </a:r>
          </a:p>
        </p:txBody>
      </p:sp>
      <p:pic>
        <p:nvPicPr>
          <p:cNvPr id="4" name="Picture 3">
            <a:extLst>
              <a:ext uri="{FF2B5EF4-FFF2-40B4-BE49-F238E27FC236}">
                <a16:creationId xmlns:a16="http://schemas.microsoft.com/office/drawing/2014/main" id="{74C30DE6-1796-38A8-14E3-DC31E4F87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4185" y="1238789"/>
            <a:ext cx="4716301" cy="3693696"/>
          </a:xfrm>
          <a:prstGeom prst="rect">
            <a:avLst/>
          </a:prstGeom>
        </p:spPr>
      </p:pic>
    </p:spTree>
    <p:extLst>
      <p:ext uri="{BB962C8B-B14F-4D97-AF65-F5344CB8AC3E}">
        <p14:creationId xmlns:p14="http://schemas.microsoft.com/office/powerpoint/2010/main" val="1626761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7360-F690-0CFC-879F-B7FCCFFCA5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757B9A-3814-2723-93B6-6E0C3EE5D3B1}"/>
              </a:ext>
            </a:extLst>
          </p:cNvPr>
          <p:cNvSpPr txBox="1"/>
          <p:nvPr/>
        </p:nvSpPr>
        <p:spPr>
          <a:xfrm>
            <a:off x="633047" y="949563"/>
            <a:ext cx="6268916" cy="4074449"/>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Analyzing the relationship between savings assets and loan approval rates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Loan approval rates tend to increase as savings assets increase.</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Applicants with higher savings (above 50k) have higher approval rates, while those with very low savings (&lt;1k) have the lowest.</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a positive relationship between savings assets and loan approval likelihood.</a:t>
            </a:r>
          </a:p>
        </p:txBody>
      </p:sp>
      <p:pic>
        <p:nvPicPr>
          <p:cNvPr id="5" name="Picture 4">
            <a:extLst>
              <a:ext uri="{FF2B5EF4-FFF2-40B4-BE49-F238E27FC236}">
                <a16:creationId xmlns:a16="http://schemas.microsoft.com/office/drawing/2014/main" id="{767E1296-1BFA-71D1-0599-37002D84AE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2108" y="1031069"/>
            <a:ext cx="4730261" cy="3715944"/>
          </a:xfrm>
          <a:prstGeom prst="rect">
            <a:avLst/>
          </a:prstGeom>
        </p:spPr>
      </p:pic>
    </p:spTree>
    <p:extLst>
      <p:ext uri="{BB962C8B-B14F-4D97-AF65-F5344CB8AC3E}">
        <p14:creationId xmlns:p14="http://schemas.microsoft.com/office/powerpoint/2010/main" val="273156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FCC28-52C1-983F-0053-FB568D9615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A119AA-14A0-4C03-DD08-D5C3F45B1438}"/>
              </a:ext>
            </a:extLst>
          </p:cNvPr>
          <p:cNvSpPr txBox="1"/>
          <p:nvPr/>
        </p:nvSpPr>
        <p:spPr>
          <a:xfrm>
            <a:off x="747347" y="1142994"/>
            <a:ext cx="6268916" cy="4079771"/>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Analyzing the impact of debt-to-income ratio on loan approval</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Applicants with a moderate debt-to-income ratio (0.2 to 0.5) have the highest number of approved applications.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Lower ratios (0 to 0.2) also show good approval rates but slightly less than the moderate range.</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ratios (0.5 to 0.8) have very low approvals and higher rejections, indicating reduced approval chances.</a:t>
            </a:r>
          </a:p>
        </p:txBody>
      </p:sp>
      <p:pic>
        <p:nvPicPr>
          <p:cNvPr id="4" name="Picture 3">
            <a:extLst>
              <a:ext uri="{FF2B5EF4-FFF2-40B4-BE49-F238E27FC236}">
                <a16:creationId xmlns:a16="http://schemas.microsoft.com/office/drawing/2014/main" id="{3974A22C-2A4A-3702-F415-D588E5637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7085" y="1585718"/>
            <a:ext cx="4389191" cy="3109373"/>
          </a:xfrm>
          <a:prstGeom prst="rect">
            <a:avLst/>
          </a:prstGeom>
        </p:spPr>
      </p:pic>
    </p:spTree>
    <p:extLst>
      <p:ext uri="{BB962C8B-B14F-4D97-AF65-F5344CB8AC3E}">
        <p14:creationId xmlns:p14="http://schemas.microsoft.com/office/powerpoint/2010/main" val="3836659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D68BB-9F07-30CD-99FE-29217DF91F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C9E7C4-DC5C-7D91-815E-22E6A61335E4}"/>
              </a:ext>
            </a:extLst>
          </p:cNvPr>
          <p:cNvSpPr txBox="1"/>
          <p:nvPr/>
        </p:nvSpPr>
        <p:spPr>
          <a:xfrm>
            <a:off x="633047" y="756137"/>
            <a:ext cx="6040315" cy="4074449"/>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Analyzing loan approvals across different loan purposes</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Personal loans have the highest number of approved applications among all loan purposes.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Education and Home Improvement loans also show relatively high approval counts compared to others.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that personal loan purposes are the most commonly approved in the dataset.</a:t>
            </a:r>
          </a:p>
        </p:txBody>
      </p:sp>
      <p:pic>
        <p:nvPicPr>
          <p:cNvPr id="4" name="Picture 3">
            <a:extLst>
              <a:ext uri="{FF2B5EF4-FFF2-40B4-BE49-F238E27FC236}">
                <a16:creationId xmlns:a16="http://schemas.microsoft.com/office/drawing/2014/main" id="{BC908C95-7359-CFFB-DB01-3474EB8BB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4184" y="1222673"/>
            <a:ext cx="4751534" cy="3832904"/>
          </a:xfrm>
          <a:prstGeom prst="rect">
            <a:avLst/>
          </a:prstGeom>
        </p:spPr>
      </p:pic>
    </p:spTree>
    <p:extLst>
      <p:ext uri="{BB962C8B-B14F-4D97-AF65-F5344CB8AC3E}">
        <p14:creationId xmlns:p14="http://schemas.microsoft.com/office/powerpoint/2010/main" val="849241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98C3E-EDE2-B66E-5B42-00FA80C621A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669059-522F-FA46-0475-1ADB712FA501}"/>
              </a:ext>
            </a:extLst>
          </p:cNvPr>
          <p:cNvSpPr txBox="1"/>
          <p:nvPr/>
        </p:nvSpPr>
        <p:spPr>
          <a:xfrm>
            <a:off x="674079" y="931984"/>
            <a:ext cx="6377804" cy="4489947"/>
          </a:xfrm>
          <a:prstGeom prst="rect">
            <a:avLst/>
          </a:prstGeom>
          <a:noFill/>
        </p:spPr>
        <p:txBody>
          <a:bodyPr wrap="square" rtlCol="0">
            <a:spAutoFit/>
          </a:bodyPr>
          <a:lstStyle/>
          <a:p>
            <a:pPr algn="just">
              <a:spcAft>
                <a:spcPts val="2400"/>
              </a:spcAft>
            </a:pPr>
            <a:r>
              <a:rPr lang="en-US" sz="2000" b="1" dirty="0">
                <a:latin typeface="Times New Roman" panose="02020603050405020304" pitchFamily="18" charset="0"/>
                <a:cs typeface="Times New Roman" panose="02020603050405020304" pitchFamily="18" charset="0"/>
              </a:rPr>
              <a:t>Identifying key factors influencing loan approval decisions using correlation analysis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Credit score shows the strongest positive correlation with loan approval, making it the most influential factor.</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Debt-related factors such as debt-to-income ratio and past defaults show negative correlations, indicating they reduce approval chances.</a:t>
            </a:r>
          </a:p>
          <a:p>
            <a:pPr marL="285750" indent="-285750" algn="just">
              <a:lnSpc>
                <a:spcPct val="150000"/>
              </a:lnSpc>
              <a:spcAft>
                <a:spcPts val="2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Income and credit history also have a moderate positive impact on loan approval decisions.</a:t>
            </a:r>
          </a:p>
        </p:txBody>
      </p:sp>
      <p:pic>
        <p:nvPicPr>
          <p:cNvPr id="5" name="Picture 4">
            <a:extLst>
              <a:ext uri="{FF2B5EF4-FFF2-40B4-BE49-F238E27FC236}">
                <a16:creationId xmlns:a16="http://schemas.microsoft.com/office/drawing/2014/main" id="{AFF4C5FD-9B60-ABC1-3A76-2E950AC67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1883" y="931984"/>
            <a:ext cx="4972501" cy="5178669"/>
          </a:xfrm>
          <a:prstGeom prst="rect">
            <a:avLst/>
          </a:prstGeom>
        </p:spPr>
      </p:pic>
    </p:spTree>
    <p:extLst>
      <p:ext uri="{BB962C8B-B14F-4D97-AF65-F5344CB8AC3E}">
        <p14:creationId xmlns:p14="http://schemas.microsoft.com/office/powerpoint/2010/main" val="1719561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73E6-6307-EA34-36BA-4964A594C19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D2A1B3-0D3C-FACC-CC8D-0D93411FB449}"/>
              </a:ext>
            </a:extLst>
          </p:cNvPr>
          <p:cNvSpPr txBox="1"/>
          <p:nvPr/>
        </p:nvSpPr>
        <p:spPr>
          <a:xfrm>
            <a:off x="1" y="102460"/>
            <a:ext cx="12192000" cy="584775"/>
          </a:xfrm>
          <a:prstGeom prst="rect">
            <a:avLst/>
          </a:prstGeom>
          <a:noFill/>
        </p:spPr>
        <p:txBody>
          <a:bodyPr wrap="square" rtlCol="0">
            <a:spAutoFit/>
          </a:bodyPr>
          <a:lstStyle/>
          <a:p>
            <a:pPr algn="ctr"/>
            <a:r>
              <a:rPr lang="en-CA" sz="3200" dirty="0">
                <a:solidFill>
                  <a:schemeClr val="accent1">
                    <a:lumMod val="50000"/>
                  </a:schemeClr>
                </a:solidFill>
                <a:latin typeface="Times New Roman" panose="02020603050405020304" pitchFamily="18" charset="0"/>
                <a:cs typeface="Times New Roman" panose="02020603050405020304" pitchFamily="18" charset="0"/>
              </a:rPr>
              <a:t>Model Development</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500299D-B523-3E90-0AF6-9C016D198C5B}"/>
              </a:ext>
            </a:extLst>
          </p:cNvPr>
          <p:cNvSpPr txBox="1"/>
          <p:nvPr/>
        </p:nvSpPr>
        <p:spPr>
          <a:xfrm>
            <a:off x="729767" y="694597"/>
            <a:ext cx="10524388" cy="4832092"/>
          </a:xfrm>
          <a:prstGeom prst="rect">
            <a:avLst/>
          </a:prstGeom>
          <a:noFill/>
        </p:spPr>
        <p:txBody>
          <a:bodyPr wrap="square" rtlCol="0">
            <a:spAutoFit/>
          </a:bodyPr>
          <a:lstStyle/>
          <a:p>
            <a:pPr algn="just">
              <a:spcAft>
                <a:spcPts val="600"/>
              </a:spcAft>
            </a:pPr>
            <a:r>
              <a:rPr lang="en-IN" sz="2000" b="1" dirty="0">
                <a:latin typeface="Times New Roman" panose="02020603050405020304" pitchFamily="18" charset="0"/>
                <a:cs typeface="Times New Roman" panose="02020603050405020304" pitchFamily="18" charset="0"/>
              </a:rPr>
              <a:t>Model Selection</a:t>
            </a:r>
          </a:p>
          <a:p>
            <a:pPr algn="just">
              <a:spcAft>
                <a:spcPts val="1200"/>
              </a:spcAft>
            </a:pPr>
            <a:r>
              <a:rPr lang="en-US" dirty="0">
                <a:latin typeface="Times New Roman" panose="02020603050405020304" pitchFamily="18" charset="0"/>
                <a:cs typeface="Times New Roman" panose="02020603050405020304" pitchFamily="18" charset="0"/>
              </a:rPr>
              <a:t>The objective of this study is to predict whether a customer’s loan application will be approved or rejected based on demographic and financial attributes.</a:t>
            </a:r>
          </a:p>
          <a:p>
            <a:pPr algn="just"/>
            <a:r>
              <a:rPr lang="en-US" dirty="0">
                <a:latin typeface="Times New Roman" panose="02020603050405020304" pitchFamily="18" charset="0"/>
                <a:cs typeface="Times New Roman" panose="02020603050405020304" pitchFamily="18" charset="0"/>
              </a:rPr>
              <a:t>The following machine learning classification algorithms were implemented:</a:t>
            </a:r>
          </a:p>
          <a:p>
            <a:pPr marL="742950" lvl="1"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Logistic Regression </a:t>
            </a:r>
          </a:p>
          <a:p>
            <a:pPr marL="742950" lvl="1"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K-Nearest Neighbors (KNN) </a:t>
            </a:r>
          </a:p>
          <a:p>
            <a:pPr marL="742950" lvl="1"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Decision Tree Classifier </a:t>
            </a:r>
          </a:p>
          <a:p>
            <a:pPr marL="742950" lvl="1"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Random Forest Classifier </a:t>
            </a:r>
          </a:p>
          <a:p>
            <a:pPr marL="742950" lvl="1" indent="-285750" algn="just">
              <a:lnSpc>
                <a:spcPct val="150000"/>
              </a:lnSpc>
              <a:spcAft>
                <a:spcPts val="12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 Vector Classifier (SVC)</a:t>
            </a:r>
          </a:p>
          <a:p>
            <a:pPr algn="just">
              <a:spcAft>
                <a:spcPts val="1200"/>
              </a:spcAft>
            </a:pPr>
            <a:r>
              <a:rPr lang="en-US" dirty="0">
                <a:latin typeface="Times New Roman" panose="02020603050405020304" pitchFamily="18" charset="0"/>
                <a:cs typeface="Times New Roman" panose="02020603050405020304" pitchFamily="18" charset="0"/>
              </a:rPr>
              <a:t>The target variable used in the model is: Loan Status (Approved, Rejected)</a:t>
            </a:r>
          </a:p>
          <a:p>
            <a:pPr algn="just">
              <a:spcBef>
                <a:spcPts val="1200"/>
              </a:spcBef>
            </a:pPr>
            <a:r>
              <a:rPr lang="en-US" dirty="0">
                <a:latin typeface="Times New Roman" panose="02020603050405020304" pitchFamily="18" charset="0"/>
                <a:cs typeface="Times New Roman" panose="02020603050405020304" pitchFamily="18" charset="0"/>
              </a:rPr>
              <a:t>Random Forest was selected as the primary model due to its high accuracy, robustness, and ability to handle non-linear relationships between variables.</a:t>
            </a:r>
          </a:p>
        </p:txBody>
      </p:sp>
    </p:spTree>
    <p:extLst>
      <p:ext uri="{BB962C8B-B14F-4D97-AF65-F5344CB8AC3E}">
        <p14:creationId xmlns:p14="http://schemas.microsoft.com/office/powerpoint/2010/main" val="1240153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3BD9EB-A97E-98C9-CA92-349FAB0F7F14}"/>
              </a:ext>
            </a:extLst>
          </p:cNvPr>
          <p:cNvSpPr txBox="1"/>
          <p:nvPr/>
        </p:nvSpPr>
        <p:spPr>
          <a:xfrm>
            <a:off x="570035" y="3251979"/>
            <a:ext cx="11034345" cy="2200602"/>
          </a:xfrm>
          <a:prstGeom prst="rect">
            <a:avLst/>
          </a:prstGeom>
          <a:noFill/>
        </p:spPr>
        <p:txBody>
          <a:bodyPr wrap="square" rtlCol="0">
            <a:spAutoFit/>
          </a:bodyPr>
          <a:lstStyle/>
          <a:p>
            <a:pPr marL="800100" lvl="1" indent="-342900" algn="just">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dataset was split into 80% training data and 20% testing data.</a:t>
            </a:r>
          </a:p>
          <a:p>
            <a:pPr algn="just">
              <a:spcAft>
                <a:spcPts val="600"/>
              </a:spcAft>
            </a:pPr>
            <a:endParaRPr lang="en-IN" sz="2000" b="1" dirty="0">
              <a:latin typeface="Times New Roman" panose="02020603050405020304" pitchFamily="18" charset="0"/>
              <a:cs typeface="Times New Roman" panose="02020603050405020304" pitchFamily="18" charset="0"/>
            </a:endParaRPr>
          </a:p>
          <a:p>
            <a:pPr algn="just">
              <a:spcAft>
                <a:spcPts val="600"/>
              </a:spcAft>
            </a:pPr>
            <a:r>
              <a:rPr lang="en-IN" sz="2000" b="1" dirty="0">
                <a:latin typeface="Times New Roman" panose="02020603050405020304" pitchFamily="18" charset="0"/>
                <a:cs typeface="Times New Roman" panose="02020603050405020304" pitchFamily="18" charset="0"/>
              </a:rPr>
              <a:t>Model Training</a:t>
            </a:r>
          </a:p>
          <a:p>
            <a:pPr marL="742950" lvl="1" indent="-285750" algn="just">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models were trained using the prepared training dataset.</a:t>
            </a:r>
          </a:p>
          <a:p>
            <a:pPr marL="742950" lvl="1" indent="-285750" algn="just">
              <a:spcAft>
                <a:spcPts val="60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models learned patterns between applicant features and loan approval outcomes. </a:t>
            </a:r>
          </a:p>
          <a:p>
            <a:pPr marL="742950" lvl="1" indent="-285750" algn="just">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models were then used to predict whether a new loan application would be approved or rejected</a:t>
            </a:r>
          </a:p>
        </p:txBody>
      </p:sp>
      <p:sp>
        <p:nvSpPr>
          <p:cNvPr id="7" name="Rectangle 5">
            <a:extLst>
              <a:ext uri="{FF2B5EF4-FFF2-40B4-BE49-F238E27FC236}">
                <a16:creationId xmlns:a16="http://schemas.microsoft.com/office/drawing/2014/main" id="{80C25DF4-1DE2-6D52-29CD-FA9DC3D796AE}"/>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26A8BB5D-D1AB-8BAC-4B5B-6D256B5E21A8}"/>
              </a:ext>
            </a:extLst>
          </p:cNvPr>
          <p:cNvPicPr>
            <a:picLocks noChangeAspect="1"/>
          </p:cNvPicPr>
          <p:nvPr/>
        </p:nvPicPr>
        <p:blipFill>
          <a:blip r:embed="rId2"/>
          <a:stretch>
            <a:fillRect/>
          </a:stretch>
        </p:blipFill>
        <p:spPr>
          <a:xfrm>
            <a:off x="5653455" y="624897"/>
            <a:ext cx="6053502" cy="2443618"/>
          </a:xfrm>
          <a:prstGeom prst="rect">
            <a:avLst/>
          </a:prstGeom>
        </p:spPr>
      </p:pic>
      <p:sp>
        <p:nvSpPr>
          <p:cNvPr id="12" name="TextBox 11">
            <a:extLst>
              <a:ext uri="{FF2B5EF4-FFF2-40B4-BE49-F238E27FC236}">
                <a16:creationId xmlns:a16="http://schemas.microsoft.com/office/drawing/2014/main" id="{302B6B80-4345-B67F-0495-C223CF9EBEE6}"/>
              </a:ext>
            </a:extLst>
          </p:cNvPr>
          <p:cNvSpPr txBox="1"/>
          <p:nvPr/>
        </p:nvSpPr>
        <p:spPr>
          <a:xfrm>
            <a:off x="578827" y="413878"/>
            <a:ext cx="4897316" cy="2846933"/>
          </a:xfrm>
          <a:prstGeom prst="rect">
            <a:avLst/>
          </a:prstGeom>
          <a:noFill/>
        </p:spPr>
        <p:txBody>
          <a:bodyPr wrap="square" rtlCol="0">
            <a:spAutoFit/>
          </a:bodyPr>
          <a:lstStyle/>
          <a:p>
            <a:pPr algn="just">
              <a:spcAft>
                <a:spcPts val="600"/>
              </a:spcAft>
            </a:pPr>
            <a:r>
              <a:rPr lang="en-IN" sz="2000" b="1" dirty="0">
                <a:latin typeface="Times New Roman" panose="02020603050405020304" pitchFamily="18" charset="0"/>
                <a:cs typeface="Times New Roman" panose="02020603050405020304" pitchFamily="18" charset="0"/>
              </a:rPr>
              <a:t>Data Preparation</a:t>
            </a:r>
            <a:endParaRPr lang="en-US" sz="2000" dirty="0">
              <a:latin typeface="Times New Roman" panose="02020603050405020304" pitchFamily="18" charset="0"/>
              <a:cs typeface="Times New Roman" panose="02020603050405020304" pitchFamily="18" charset="0"/>
            </a:endParaRPr>
          </a:p>
          <a:p>
            <a:pPr marL="742950" lvl="1" indent="-285750" algn="just">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Categorical variables were converted into numerical format using encoding techniques.</a:t>
            </a:r>
          </a:p>
          <a:p>
            <a:pPr marL="742950" lvl="1" indent="-285750" algn="just">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Binary attributes were transformed into 0 and 1 format.</a:t>
            </a:r>
          </a:p>
          <a:p>
            <a:pPr marL="742950" lvl="1" indent="-285750" algn="just">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dataset was divided into independent variables (features) and the dependent variable (loan status).</a:t>
            </a:r>
          </a:p>
        </p:txBody>
      </p:sp>
    </p:spTree>
    <p:extLst>
      <p:ext uri="{BB962C8B-B14F-4D97-AF65-F5344CB8AC3E}">
        <p14:creationId xmlns:p14="http://schemas.microsoft.com/office/powerpoint/2010/main" val="3513891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8B64E-74B0-D1F6-20A0-6A979F0D05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6A5142-A4A9-6A98-19D2-33BAFD199449}"/>
              </a:ext>
            </a:extLst>
          </p:cNvPr>
          <p:cNvSpPr txBox="1"/>
          <p:nvPr/>
        </p:nvSpPr>
        <p:spPr>
          <a:xfrm>
            <a:off x="1" y="102460"/>
            <a:ext cx="12192000" cy="584775"/>
          </a:xfrm>
          <a:prstGeom prst="rect">
            <a:avLst/>
          </a:prstGeom>
          <a:noFill/>
        </p:spPr>
        <p:txBody>
          <a:bodyPr wrap="square" rtlCol="0">
            <a:spAutoFit/>
          </a:bodyPr>
          <a:lstStyle/>
          <a:p>
            <a:pPr algn="ctr"/>
            <a:r>
              <a:rPr lang="en-IN" sz="3200" dirty="0">
                <a:solidFill>
                  <a:schemeClr val="accent1">
                    <a:lumMod val="50000"/>
                  </a:schemeClr>
                </a:solidFill>
                <a:latin typeface="Times New Roman" panose="02020603050405020304" pitchFamily="18" charset="0"/>
                <a:cs typeface="Times New Roman" panose="02020603050405020304" pitchFamily="18" charset="0"/>
              </a:rPr>
              <a:t>Model Evaluation &amp; Performance Evaluation</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A2D006E-73C3-390A-6DD0-A06057B850BE}"/>
              </a:ext>
            </a:extLst>
          </p:cNvPr>
          <p:cNvSpPr txBox="1"/>
          <p:nvPr/>
        </p:nvSpPr>
        <p:spPr>
          <a:xfrm>
            <a:off x="685804" y="703390"/>
            <a:ext cx="6550265" cy="5693866"/>
          </a:xfrm>
          <a:prstGeom prst="rect">
            <a:avLst/>
          </a:prstGeom>
          <a:noFill/>
        </p:spPr>
        <p:txBody>
          <a:bodyPr wrap="square" rtlCol="0">
            <a:spAutoFit/>
          </a:bodyPr>
          <a:lstStyle/>
          <a:p>
            <a:pPr algn="just">
              <a:spcAft>
                <a:spcPts val="600"/>
              </a:spcAft>
            </a:pPr>
            <a:r>
              <a:rPr lang="en-IN" sz="2000" b="1" dirty="0">
                <a:latin typeface="Times New Roman" panose="02020603050405020304" pitchFamily="18" charset="0"/>
                <a:cs typeface="Times New Roman" panose="02020603050405020304" pitchFamily="18" charset="0"/>
              </a:rPr>
              <a:t>Model Accuracy</a:t>
            </a:r>
          </a:p>
          <a:p>
            <a:pPr algn="just">
              <a:spcAft>
                <a:spcPts val="600"/>
              </a:spcAft>
            </a:pPr>
            <a:r>
              <a:rPr lang="en-US" dirty="0">
                <a:latin typeface="Times New Roman" panose="02020603050405020304" pitchFamily="18" charset="0"/>
                <a:cs typeface="Times New Roman" panose="02020603050405020304" pitchFamily="18" charset="0"/>
              </a:rPr>
              <a:t>The performance of the machine learning models was evaluated using standard classification metrics.</a:t>
            </a:r>
          </a:p>
          <a:p>
            <a:pPr algn="just">
              <a:spcAft>
                <a:spcPts val="1200"/>
              </a:spcAft>
            </a:pPr>
            <a:r>
              <a:rPr lang="en-US" dirty="0">
                <a:latin typeface="Times New Roman" panose="02020603050405020304" pitchFamily="18" charset="0"/>
                <a:cs typeface="Times New Roman" panose="02020603050405020304" pitchFamily="18" charset="0"/>
              </a:rPr>
              <a:t>Among all the models, Random Forest achieved the highest accuracy of approximately 99%, making it the best-performing model for this dataset.</a:t>
            </a:r>
          </a:p>
          <a:p>
            <a:pPr>
              <a:lnSpc>
                <a:spcPct val="150000"/>
              </a:lnSpc>
            </a:pPr>
            <a:r>
              <a:rPr lang="en-IN" dirty="0">
                <a:latin typeface="Times New Roman" panose="02020603050405020304" pitchFamily="18" charset="0"/>
                <a:cs typeface="Times New Roman" panose="02020603050405020304" pitchFamily="18" charset="0"/>
              </a:rPr>
              <a:t>Performance was evaluated using:</a:t>
            </a:r>
          </a:p>
          <a:p>
            <a:pPr marL="742950" lvl="1" indent="-28575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Accuracy Score </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Confusion Matrix</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Precision</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Recall</a:t>
            </a:r>
          </a:p>
          <a:p>
            <a:pPr marL="742950" lvl="1" indent="-285750" algn="just">
              <a:spcAft>
                <a:spcPts val="12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F1-Score</a:t>
            </a:r>
            <a:endParaRPr lang="en-US" dirty="0">
              <a:latin typeface="Times New Roman" panose="02020603050405020304" pitchFamily="18" charset="0"/>
              <a:cs typeface="Times New Roman" panose="02020603050405020304" pitchFamily="18" charset="0"/>
            </a:endParaRPr>
          </a:p>
          <a:p>
            <a:pPr algn="just">
              <a:lnSpc>
                <a:spcPct val="150000"/>
              </a:lnSpc>
              <a:spcAft>
                <a:spcPts val="600"/>
              </a:spcAft>
            </a:pPr>
            <a:r>
              <a:rPr lang="en-IN" sz="2000" b="1" dirty="0">
                <a:latin typeface="Times New Roman" panose="02020603050405020304" pitchFamily="18" charset="0"/>
                <a:cs typeface="Times New Roman" panose="02020603050405020304" pitchFamily="18" charset="0"/>
              </a:rPr>
              <a:t>Performance Interpretation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correctly classifies most loan applications.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errors are present but overall performance is good.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helps identify risky applicants before approval.</a:t>
            </a:r>
            <a:endParaRPr lang="en-US" alt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supports better decision-making and reduces risk.</a:t>
            </a:r>
            <a:endParaRPr lang="en-IN"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647883AE-8A4D-6EF8-7DA9-7EDE5F5EE463}"/>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EF428AE1-88CF-1CA5-98AB-3CC5FEF70828}"/>
              </a:ext>
            </a:extLst>
          </p:cNvPr>
          <p:cNvPicPr>
            <a:picLocks noChangeAspect="1"/>
          </p:cNvPicPr>
          <p:nvPr/>
        </p:nvPicPr>
        <p:blipFill>
          <a:blip r:embed="rId3"/>
          <a:stretch>
            <a:fillRect/>
          </a:stretch>
        </p:blipFill>
        <p:spPr>
          <a:xfrm>
            <a:off x="7482255" y="861646"/>
            <a:ext cx="4402418" cy="5530362"/>
          </a:xfrm>
          <a:prstGeom prst="rect">
            <a:avLst/>
          </a:prstGeom>
        </p:spPr>
      </p:pic>
      <p:sp>
        <p:nvSpPr>
          <p:cNvPr id="13" name="Rectangle 3">
            <a:extLst>
              <a:ext uri="{FF2B5EF4-FFF2-40B4-BE49-F238E27FC236}">
                <a16:creationId xmlns:a16="http://schemas.microsoft.com/office/drawing/2014/main" id="{ED22D9BA-174F-2A79-B0E6-5543A7B1CA9B}"/>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512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710F8-9031-7FD6-43EF-FEC7215865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1F4CE8D-4B1A-0E22-559A-A97EF834114B}"/>
              </a:ext>
            </a:extLst>
          </p:cNvPr>
          <p:cNvSpPr txBox="1"/>
          <p:nvPr/>
        </p:nvSpPr>
        <p:spPr>
          <a:xfrm>
            <a:off x="1" y="-64592"/>
            <a:ext cx="12192000" cy="742511"/>
          </a:xfrm>
          <a:prstGeom prst="rect">
            <a:avLst/>
          </a:prstGeom>
          <a:noFill/>
        </p:spPr>
        <p:txBody>
          <a:bodyPr wrap="square" rtlCol="0">
            <a:spAutoFit/>
          </a:bodyPr>
          <a:lstStyle/>
          <a:p>
            <a:pPr lvl="1" algn="ctr">
              <a:lnSpc>
                <a:spcPct val="150000"/>
              </a:lnSpc>
            </a:pPr>
            <a:r>
              <a:rPr lang="en-IN" sz="3200" dirty="0">
                <a:solidFill>
                  <a:schemeClr val="accent1">
                    <a:lumMod val="50000"/>
                  </a:schemeClr>
                </a:solidFill>
                <a:latin typeface="Times New Roman" panose="02020603050405020304" pitchFamily="18" charset="0"/>
                <a:cs typeface="Times New Roman" panose="02020603050405020304" pitchFamily="18" charset="0"/>
              </a:rPr>
              <a:t>Model Comparison &amp; Selection</a:t>
            </a:r>
          </a:p>
        </p:txBody>
      </p:sp>
      <p:sp>
        <p:nvSpPr>
          <p:cNvPr id="3" name="TextBox 2">
            <a:extLst>
              <a:ext uri="{FF2B5EF4-FFF2-40B4-BE49-F238E27FC236}">
                <a16:creationId xmlns:a16="http://schemas.microsoft.com/office/drawing/2014/main" id="{7B40CE0F-1C74-FDC7-BFF6-A18230C7EBCF}"/>
              </a:ext>
            </a:extLst>
          </p:cNvPr>
          <p:cNvSpPr txBox="1"/>
          <p:nvPr/>
        </p:nvSpPr>
        <p:spPr>
          <a:xfrm>
            <a:off x="685804" y="747350"/>
            <a:ext cx="11131058" cy="5551776"/>
          </a:xfrm>
          <a:prstGeom prst="rect">
            <a:avLst/>
          </a:prstGeom>
          <a:noFill/>
        </p:spPr>
        <p:txBody>
          <a:bodyPr wrap="square" rtlCol="0">
            <a:spAutoFit/>
          </a:bodyPr>
          <a:lstStyle/>
          <a:p>
            <a:pPr algn="just">
              <a:spcAft>
                <a:spcPts val="600"/>
              </a:spcAft>
            </a:pPr>
            <a:r>
              <a:rPr lang="en-IN" sz="2000" b="1" dirty="0">
                <a:latin typeface="Times New Roman" panose="02020603050405020304" pitchFamily="18" charset="0"/>
                <a:cs typeface="Times New Roman" panose="02020603050405020304" pitchFamily="18" charset="0"/>
              </a:rPr>
              <a:t>Model Comparison</a:t>
            </a:r>
          </a:p>
          <a:p>
            <a:pPr algn="just">
              <a:spcAft>
                <a:spcPts val="600"/>
              </a:spcAft>
            </a:pPr>
            <a:r>
              <a:rPr lang="en-US" dirty="0">
                <a:latin typeface="Times New Roman" panose="02020603050405020304" pitchFamily="18" charset="0"/>
                <a:cs typeface="Times New Roman" panose="02020603050405020304" pitchFamily="18" charset="0"/>
              </a:rPr>
              <a:t>Different classification models were compared based on multiple evaluation metrics such as accuracy, confusion matrix, precision, recall, and F1-score.</a:t>
            </a:r>
          </a:p>
          <a:p>
            <a:pPr marL="742950" lvl="1"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Logistic Regression </a:t>
            </a:r>
            <a:r>
              <a:rPr lang="en-US" dirty="0">
                <a:latin typeface="Times New Roman" panose="02020603050405020304" pitchFamily="18" charset="0"/>
                <a:cs typeface="Times New Roman" panose="02020603050405020304" pitchFamily="18" charset="0"/>
              </a:rPr>
              <a:t>– Lower performance with accuracy around 73%, used as a baseline model.</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KNN (K-Nearest Neighbors) </a:t>
            </a:r>
            <a:r>
              <a:rPr lang="en-US" dirty="0">
                <a:latin typeface="Times New Roman" panose="02020603050405020304" pitchFamily="18" charset="0"/>
                <a:cs typeface="Times New Roman" panose="02020603050405020304" pitchFamily="18" charset="0"/>
              </a:rPr>
              <a:t>– Moderate performance with accuracy around 86%, but slightly lower consistency.</a:t>
            </a:r>
          </a:p>
          <a:p>
            <a:pPr marL="742950" lvl="1"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Decision Tree </a:t>
            </a:r>
            <a:r>
              <a:rPr lang="en-US" dirty="0">
                <a:latin typeface="Times New Roman" panose="02020603050405020304" pitchFamily="18" charset="0"/>
                <a:cs typeface="Times New Roman" panose="02020603050405020304" pitchFamily="18" charset="0"/>
              </a:rPr>
              <a:t>– Good performance with accuracy around 87%, and easy to interpret.</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Random Forest </a:t>
            </a:r>
            <a:r>
              <a:rPr lang="en-US" dirty="0">
                <a:latin typeface="Times New Roman" panose="02020603050405020304" pitchFamily="18" charset="0"/>
                <a:cs typeface="Times New Roman" panose="02020603050405020304" pitchFamily="18" charset="0"/>
              </a:rPr>
              <a:t>– Best performance with highest accuracy around 91%, providing reliable and balanced predictions.</a:t>
            </a:r>
          </a:p>
          <a:p>
            <a:pPr marL="742950" lvl="1" indent="-285750" algn="just">
              <a:spcAft>
                <a:spcPts val="240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SVC (Support Vector Classifier) </a:t>
            </a:r>
            <a:r>
              <a:rPr lang="en-US" dirty="0">
                <a:latin typeface="Times New Roman" panose="02020603050405020304" pitchFamily="18" charset="0"/>
                <a:cs typeface="Times New Roman" panose="02020603050405020304" pitchFamily="18" charset="0"/>
              </a:rPr>
              <a:t>– Strong performance with accuracy around 90%, close to Random Forest.</a:t>
            </a:r>
          </a:p>
          <a:p>
            <a:pPr algn="just"/>
            <a:r>
              <a:rPr lang="en-IN" sz="2000" b="1" dirty="0">
                <a:latin typeface="Times New Roman" panose="02020603050405020304" pitchFamily="18" charset="0"/>
                <a:cs typeface="Times New Roman" panose="02020603050405020304" pitchFamily="18" charset="0"/>
              </a:rPr>
              <a:t>Final Model Selection</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Classifier was selected as the final model.</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provides the highest accuracy among all models.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handles complex relationships between features effectively.</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gives more reliable predictions compared to other models.</a:t>
            </a:r>
            <a:endParaRPr lang="en-IN"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BFF9D56A-1882-0E28-7BE9-52551733CDEF}"/>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3">
            <a:extLst>
              <a:ext uri="{FF2B5EF4-FFF2-40B4-BE49-F238E27FC236}">
                <a16:creationId xmlns:a16="http://schemas.microsoft.com/office/drawing/2014/main" id="{42BB4414-2ADF-8436-0ED9-FC66710E6650}"/>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9279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323CE4C0-77D0-149E-B6EF-0E4323B899D6}"/>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DC869559-2B6B-6232-08D1-4F8F30C94DEA}"/>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30E2A01-4D95-9F2C-9351-5AE7FBF2D371}"/>
              </a:ext>
            </a:extLst>
          </p:cNvPr>
          <p:cNvSpPr txBox="1"/>
          <p:nvPr/>
        </p:nvSpPr>
        <p:spPr>
          <a:xfrm>
            <a:off x="1" y="-64592"/>
            <a:ext cx="12192000" cy="742511"/>
          </a:xfrm>
          <a:prstGeom prst="rect">
            <a:avLst/>
          </a:prstGeom>
          <a:noFill/>
        </p:spPr>
        <p:txBody>
          <a:bodyPr wrap="square" rtlCol="0">
            <a:spAutoFit/>
          </a:bodyPr>
          <a:lstStyle/>
          <a:p>
            <a:pPr lvl="1" algn="ctr">
              <a:lnSpc>
                <a:spcPct val="150000"/>
              </a:lnSpc>
            </a:pPr>
            <a:r>
              <a:rPr lang="en-IN" sz="3200" dirty="0">
                <a:solidFill>
                  <a:schemeClr val="accent1">
                    <a:lumMod val="50000"/>
                  </a:schemeClr>
                </a:solidFill>
                <a:latin typeface="Times New Roman" panose="02020603050405020304" pitchFamily="18" charset="0"/>
                <a:cs typeface="Times New Roman" panose="02020603050405020304" pitchFamily="18" charset="0"/>
              </a:rPr>
              <a:t>Dashboard Development &amp; Visualization</a:t>
            </a: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15CD8AF-9F96-6566-CEB7-73F04CB96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215" y="936492"/>
            <a:ext cx="10812930" cy="5543439"/>
          </a:xfrm>
          <a:prstGeom prst="rect">
            <a:avLst/>
          </a:prstGeom>
        </p:spPr>
      </p:pic>
    </p:spTree>
    <p:extLst>
      <p:ext uri="{BB962C8B-B14F-4D97-AF65-F5344CB8AC3E}">
        <p14:creationId xmlns:p14="http://schemas.microsoft.com/office/powerpoint/2010/main" val="657086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96AB91-41F3-260B-F8A0-5FCB86BC8E72}"/>
              </a:ext>
            </a:extLst>
          </p:cNvPr>
          <p:cNvPicPr>
            <a:picLocks noChangeAspect="1"/>
          </p:cNvPicPr>
          <p:nvPr/>
        </p:nvPicPr>
        <p:blipFill>
          <a:blip r:embed="rId2"/>
          <a:stretch>
            <a:fillRect/>
          </a:stretch>
        </p:blipFill>
        <p:spPr>
          <a:xfrm>
            <a:off x="641837" y="562708"/>
            <a:ext cx="10893671" cy="5794130"/>
          </a:xfrm>
          <a:prstGeom prst="rect">
            <a:avLst/>
          </a:prstGeom>
        </p:spPr>
      </p:pic>
    </p:spTree>
    <p:extLst>
      <p:ext uri="{BB962C8B-B14F-4D97-AF65-F5344CB8AC3E}">
        <p14:creationId xmlns:p14="http://schemas.microsoft.com/office/powerpoint/2010/main" val="3742209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05E3D-A095-D2EB-E7CD-749A5EA8128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3CAEED7-88B3-B676-15B1-E0331E12D9CB}"/>
              </a:ext>
            </a:extLst>
          </p:cNvPr>
          <p:cNvSpPr txBox="1"/>
          <p:nvPr/>
        </p:nvSpPr>
        <p:spPr>
          <a:xfrm>
            <a:off x="1" y="-64592"/>
            <a:ext cx="12192000" cy="742511"/>
          </a:xfrm>
          <a:prstGeom prst="rect">
            <a:avLst/>
          </a:prstGeom>
          <a:noFill/>
        </p:spPr>
        <p:txBody>
          <a:bodyPr wrap="square" rtlCol="0">
            <a:spAutoFit/>
          </a:bodyPr>
          <a:lstStyle/>
          <a:p>
            <a:pPr lvl="1" algn="ctr">
              <a:lnSpc>
                <a:spcPct val="150000"/>
              </a:lnSpc>
            </a:pPr>
            <a:r>
              <a:rPr lang="en-US" sz="3200" dirty="0">
                <a:solidFill>
                  <a:schemeClr val="accent1">
                    <a:lumMod val="50000"/>
                  </a:schemeClr>
                </a:solidFill>
                <a:latin typeface="Times New Roman" panose="02020603050405020304" pitchFamily="18" charset="0"/>
                <a:cs typeface="Times New Roman" panose="02020603050405020304" pitchFamily="18" charset="0"/>
              </a:rPr>
              <a:t>Conclusions and Recommendations</a:t>
            </a:r>
          </a:p>
        </p:txBody>
      </p:sp>
      <p:sp>
        <p:nvSpPr>
          <p:cNvPr id="4" name="Rectangle 2">
            <a:extLst>
              <a:ext uri="{FF2B5EF4-FFF2-40B4-BE49-F238E27FC236}">
                <a16:creationId xmlns:a16="http://schemas.microsoft.com/office/drawing/2014/main" id="{65C53477-5320-D307-E7A8-8AEFF840AD42}"/>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3">
            <a:extLst>
              <a:ext uri="{FF2B5EF4-FFF2-40B4-BE49-F238E27FC236}">
                <a16:creationId xmlns:a16="http://schemas.microsoft.com/office/drawing/2014/main" id="{50EA80D1-52FA-1E9D-8AD4-3299DADDCDD9}"/>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B21CC71-259F-8847-24BA-B33C745EC314}"/>
              </a:ext>
            </a:extLst>
          </p:cNvPr>
          <p:cNvSpPr txBox="1"/>
          <p:nvPr/>
        </p:nvSpPr>
        <p:spPr>
          <a:xfrm>
            <a:off x="501162" y="664243"/>
            <a:ext cx="11087100" cy="5644109"/>
          </a:xfrm>
          <a:prstGeom prst="rect">
            <a:avLst/>
          </a:prstGeom>
          <a:noFill/>
        </p:spPr>
        <p:txBody>
          <a:bodyPr wrap="square" rtlCol="0">
            <a:spAutoFit/>
          </a:bodyPr>
          <a:lstStyle/>
          <a:p>
            <a:pPr algn="just">
              <a:spcAft>
                <a:spcPts val="600"/>
              </a:spcAft>
            </a:pPr>
            <a:r>
              <a:rPr lang="en-IN" sz="2000" b="1" dirty="0">
                <a:latin typeface="Times New Roman" panose="02020603050405020304" pitchFamily="18" charset="0"/>
                <a:cs typeface="Times New Roman" panose="02020603050405020304" pitchFamily="18" charset="0"/>
              </a:rPr>
              <a:t>Conclusion</a:t>
            </a:r>
          </a:p>
          <a:p>
            <a:pPr marL="742950" lvl="1" indent="-285750" algn="just">
              <a:lnSpc>
                <a:spcPct val="15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focused on predicting loan approval decisions using data analytics and machine learning techniques. The dataset included important customer information such as income level, employment status, credit score, debt, and financial behavior.</a:t>
            </a:r>
          </a:p>
          <a:p>
            <a:pPr marL="742950" lvl="1" indent="-285750" algn="just">
              <a:lnSpc>
                <a:spcPct val="15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data preprocessing, exploratory data analysis (EDA) was performed to identify patterns. The results showed that factors like income, credit score, debt, savings, and past defaults significantly influence loan approval. Customers with higher income and strong credit history were more likely to be approved, while high-risk applicants were often rejected.</a:t>
            </a:r>
          </a:p>
          <a:p>
            <a:pPr marL="742950" lvl="1" indent="-285750" algn="just">
              <a:lnSpc>
                <a:spcPct val="15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Among various models tested, the Random Forest model achieved the best performance with high accuracy in classifying applicants.</a:t>
            </a:r>
          </a:p>
          <a:p>
            <a:pPr marL="742950" lvl="1" indent="-285750" algn="just">
              <a:lnSpc>
                <a:spcPct val="15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Power BI dashboard was developed to visualize the insights in an interactive and user-friendly manner. The dashboard highlights key metrics such as approval rate, income distribution, credit score impact, and risk factors. It serves as a valuable decision-support tool for financial institutions.</a:t>
            </a:r>
          </a:p>
        </p:txBody>
      </p:sp>
    </p:spTree>
    <p:extLst>
      <p:ext uri="{BB962C8B-B14F-4D97-AF65-F5344CB8AC3E}">
        <p14:creationId xmlns:p14="http://schemas.microsoft.com/office/powerpoint/2010/main" val="3327890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62D03D-6AD4-08BF-74C5-D22AB81B6343}"/>
              </a:ext>
            </a:extLst>
          </p:cNvPr>
          <p:cNvSpPr txBox="1"/>
          <p:nvPr/>
        </p:nvSpPr>
        <p:spPr>
          <a:xfrm>
            <a:off x="596412" y="488084"/>
            <a:ext cx="10999176" cy="4970591"/>
          </a:xfrm>
          <a:prstGeom prst="rect">
            <a:avLst/>
          </a:prstGeom>
          <a:noFill/>
        </p:spPr>
        <p:txBody>
          <a:bodyPr wrap="square" rtlCol="0">
            <a:spAutoFit/>
          </a:bodyPr>
          <a:lstStyle/>
          <a:p>
            <a:pPr marL="800100" lvl="1" indent="-342900" algn="just">
              <a:spcAft>
                <a:spcPts val="6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Among various models tested, the Random Forest model achieved the best performance with high accuracy in classifying applicants.</a:t>
            </a:r>
          </a:p>
          <a:p>
            <a:pPr algn="just">
              <a:spcAft>
                <a:spcPts val="600"/>
              </a:spcAft>
            </a:pPr>
            <a:endParaRPr lang="en-US" sz="2000" b="1" dirty="0">
              <a:latin typeface="Times New Roman" panose="02020603050405020304" pitchFamily="18" charset="0"/>
              <a:cs typeface="Times New Roman" panose="02020603050405020304" pitchFamily="18" charset="0"/>
            </a:endParaRPr>
          </a:p>
          <a:p>
            <a:pPr algn="just">
              <a:spcAft>
                <a:spcPts val="600"/>
              </a:spcAft>
            </a:pPr>
            <a:r>
              <a:rPr lang="en-US" sz="2000" b="1" dirty="0">
                <a:latin typeface="Times New Roman" panose="02020603050405020304" pitchFamily="18" charset="0"/>
                <a:cs typeface="Times New Roman" panose="02020603050405020304" pitchFamily="18" charset="0"/>
              </a:rPr>
              <a:t>Recommendations</a:t>
            </a:r>
            <a:endParaRPr lang="en-IN" b="1" dirty="0">
              <a:latin typeface="Times New Roman" panose="02020603050405020304" pitchFamily="18" charset="0"/>
              <a:cs typeface="Times New Roman" panose="02020603050405020304" pitchFamily="18" charset="0"/>
            </a:endParaRPr>
          </a:p>
          <a:p>
            <a:pPr marL="800100" lvl="1" indent="-34290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Banks should adopt predictive models to evaluate customer risk before approving loans. </a:t>
            </a:r>
          </a:p>
          <a:p>
            <a:pPr marL="800100" lvl="1" indent="-34290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 with low credit scores or past defaults should undergo stricter verification processes. </a:t>
            </a:r>
          </a:p>
          <a:p>
            <a:pPr marL="800100" lvl="1" indent="-34290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Among various models tested, the Random Forest model achieved the best performance with high accuracy in classifying applicants.</a:t>
            </a:r>
          </a:p>
          <a:p>
            <a:pPr marL="800100" lvl="1" indent="-34290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Medium-risk customers can be approved with controlled loan amounts instead of outright rejection. </a:t>
            </a:r>
          </a:p>
          <a:p>
            <a:pPr marL="800100" lvl="1" indent="-34290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Financial institutions should continuously monitor high-risk customers even after loan approval.</a:t>
            </a:r>
          </a:p>
          <a:p>
            <a:pPr marL="800100" lvl="1" indent="-34290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Automating the loan approval process can reduce manual effort, minimize human errors, and improve decision speed.</a:t>
            </a:r>
          </a:p>
          <a:p>
            <a:pPr marL="800100" lvl="1" indent="-342900" algn="just">
              <a:spcAft>
                <a:spcPts val="12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Using data-driven decision systems can enhance overall bank performance and reduce default rates.</a:t>
            </a:r>
          </a:p>
        </p:txBody>
      </p:sp>
    </p:spTree>
    <p:extLst>
      <p:ext uri="{BB962C8B-B14F-4D97-AF65-F5344CB8AC3E}">
        <p14:creationId xmlns:p14="http://schemas.microsoft.com/office/powerpoint/2010/main" val="2595122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2440</Words>
  <Application>Microsoft Office PowerPoint</Application>
  <PresentationFormat>Widescreen</PresentationFormat>
  <Paragraphs>238</Paragraphs>
  <Slides>28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PowerPoint Presentation</vt:lpstr>
      <vt:lpstr>Contents /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ritheshgputtur@outlook.com</dc:creator>
  <cp:lastModifiedBy>ritheshgputtur@outlook.com</cp:lastModifiedBy>
  <cp:revision>2</cp:revision>
  <dcterms:created xsi:type="dcterms:W3CDTF">2026-04-07T15:52:55Z</dcterms:created>
  <dcterms:modified xsi:type="dcterms:W3CDTF">2026-04-07T15:54:15Z</dcterms:modified>
</cp:coreProperties>
</file>